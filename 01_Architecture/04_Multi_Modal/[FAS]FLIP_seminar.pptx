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2cb44b47c2_1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2cb44b47c2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2cb44b47c2_1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2cb44b47c2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2cb44b47c2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2cb44b47c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cb44b47c2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cb44b47c2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cb44b47c2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cb44b47c2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cb44b47c2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cb44b47c2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cb44b47c2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2cb44b47c2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cb44b47c2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2cb44b47c2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cb44b47c2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2cb44b47c2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2cb44b47c2_1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2cb44b47c2_1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cb44b47c2_1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2cb44b47c2_1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cb44b47c2_1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2cb44b47c2_1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2cb44b47c2_1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2cb44b47c2_1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cb44b47c2_1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2cb44b47c2_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2cb44b47c2_1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2cb44b47c2_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cb44b47c2_1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2cb44b47c2_1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2d1768181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2d1768181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2d1768181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2d1768181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2d17681813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2d1768181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2d1768181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2d1768181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2d1768181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2d1768181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2d1768181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2d1768181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2d1768181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2d1768181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2cb44b47c2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2cb44b47c2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mailto:uacoding01@gmail.com" TargetMode="External"/><Relationship Id="rId4" Type="http://schemas.openxmlformats.org/officeDocument/2006/relationships/hyperlink" Target="https://arxiv.org/pdf/2103.00020" TargetMode="External"/><Relationship Id="rId5" Type="http://schemas.openxmlformats.org/officeDocument/2006/relationships/hyperlink" Target="https://github.com/OpenAI/CLIP" TargetMode="External"/><Relationship Id="rId6" Type="http://schemas.openxmlformats.org/officeDocument/2006/relationships/hyperlink" Target="https://github.com/koushiksrivats/FLI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1584225"/>
            <a:ext cx="8520600" cy="6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80">
                <a:solidFill>
                  <a:srgbClr val="434343"/>
                </a:solidFill>
              </a:rPr>
              <a:t>FLIP : Cross-domain Face Anti-Spoofing with Language Guidance</a:t>
            </a:r>
            <a:endParaRPr b="1" sz="2080">
              <a:solidFill>
                <a:srgbClr val="434343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368575"/>
            <a:ext cx="8520600" cy="4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80">
                <a:solidFill>
                  <a:srgbClr val="434343"/>
                </a:solidFill>
              </a:rPr>
              <a:t>Contents :</a:t>
            </a:r>
            <a:endParaRPr b="1" sz="2080">
              <a:solidFill>
                <a:srgbClr val="434343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39200" y="919813"/>
            <a:ext cx="7182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</a:pPr>
            <a:r>
              <a:rPr lang="en" sz="1200">
                <a:solidFill>
                  <a:schemeClr val="dk2"/>
                </a:solidFill>
              </a:rPr>
              <a:t>Why ‘</a:t>
            </a:r>
            <a:r>
              <a:rPr lang="en" sz="1200">
                <a:solidFill>
                  <a:srgbClr val="434343"/>
                </a:solidFill>
              </a:rPr>
              <a:t>FLIP : Cross-domain Face Anti-Spoofing with Language Guidance</a:t>
            </a:r>
            <a:r>
              <a:rPr lang="en" sz="1200">
                <a:solidFill>
                  <a:schemeClr val="dk2"/>
                </a:solidFill>
              </a:rPr>
              <a:t>’ title ?</a:t>
            </a:r>
            <a:br>
              <a:rPr lang="en" sz="1200">
                <a:solidFill>
                  <a:schemeClr val="dk2"/>
                </a:solidFill>
              </a:rPr>
            </a:b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</a:pPr>
            <a:r>
              <a:rPr lang="en" sz="1200">
                <a:solidFill>
                  <a:srgbClr val="434343"/>
                </a:solidFill>
              </a:rPr>
              <a:t>What is FLIP framework ? </a:t>
            </a:r>
            <a:br>
              <a:rPr lang="en" sz="1200">
                <a:solidFill>
                  <a:srgbClr val="434343"/>
                </a:solidFill>
              </a:rPr>
            </a:br>
            <a:br>
              <a:rPr lang="en" sz="1200">
                <a:solidFill>
                  <a:srgbClr val="434343"/>
                </a:solidFill>
              </a:rPr>
            </a:br>
            <a:endParaRPr sz="1200">
              <a:solidFill>
                <a:srgbClr val="434343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</a:pPr>
            <a:r>
              <a:rPr lang="en" sz="1200">
                <a:solidFill>
                  <a:srgbClr val="434343"/>
                </a:solidFill>
              </a:rPr>
              <a:t>What is FLIP_V (FLIP-Vision) strategy ? </a:t>
            </a:r>
            <a:br>
              <a:rPr lang="en" sz="1200">
                <a:solidFill>
                  <a:srgbClr val="434343"/>
                </a:solidFill>
              </a:rPr>
            </a:br>
            <a:br>
              <a:rPr lang="en" sz="1200">
                <a:solidFill>
                  <a:srgbClr val="434343"/>
                </a:solidFill>
              </a:rPr>
            </a:br>
            <a:endParaRPr sz="1200">
              <a:solidFill>
                <a:srgbClr val="434343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</a:pPr>
            <a:r>
              <a:rPr lang="en" sz="1200">
                <a:solidFill>
                  <a:srgbClr val="434343"/>
                </a:solidFill>
              </a:rPr>
              <a:t>What is FLIP_IT (FLIP-Image-Text-Similarity) strategy ?</a:t>
            </a:r>
            <a:br>
              <a:rPr lang="en" sz="1200">
                <a:solidFill>
                  <a:srgbClr val="434343"/>
                </a:solidFill>
              </a:rPr>
            </a:br>
            <a:br>
              <a:rPr lang="en" sz="1200">
                <a:solidFill>
                  <a:srgbClr val="434343"/>
                </a:solidFill>
              </a:rPr>
            </a:br>
            <a:endParaRPr sz="1200">
              <a:solidFill>
                <a:srgbClr val="434343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</a:pPr>
            <a:r>
              <a:rPr lang="en" sz="1200">
                <a:solidFill>
                  <a:srgbClr val="434343"/>
                </a:solidFill>
              </a:rPr>
              <a:t>What is FLIP_MCL (FLIP-Multimodal-Contrastive-Learning) strategy ?</a:t>
            </a:r>
            <a:br>
              <a:rPr lang="en" sz="1200">
                <a:solidFill>
                  <a:srgbClr val="434343"/>
                </a:solidFill>
              </a:rPr>
            </a:br>
            <a:br>
              <a:rPr lang="en" sz="1200">
                <a:solidFill>
                  <a:srgbClr val="434343"/>
                </a:solidFill>
              </a:rPr>
            </a:br>
            <a:endParaRPr sz="1200">
              <a:solidFill>
                <a:srgbClr val="434343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</a:pPr>
            <a:r>
              <a:rPr lang="en" sz="1200">
                <a:solidFill>
                  <a:srgbClr val="434343"/>
                </a:solidFill>
              </a:rPr>
              <a:t>FLIP Framework Evaluation</a:t>
            </a:r>
            <a:br>
              <a:rPr lang="en" sz="1200">
                <a:solidFill>
                  <a:srgbClr val="434343"/>
                </a:solidFill>
              </a:rPr>
            </a:br>
            <a:br>
              <a:rPr lang="en" sz="1200">
                <a:solidFill>
                  <a:srgbClr val="434343"/>
                </a:solidFill>
              </a:rPr>
            </a:br>
            <a:endParaRPr sz="1200">
              <a:solidFill>
                <a:srgbClr val="434343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</a:pPr>
            <a:r>
              <a:rPr lang="en" sz="1200">
                <a:solidFill>
                  <a:srgbClr val="434343"/>
                </a:solidFill>
              </a:rPr>
              <a:t>Conclusion and Problems</a:t>
            </a:r>
            <a:endParaRPr sz="1200"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type="ctrTitle"/>
          </p:nvPr>
        </p:nvSpPr>
        <p:spPr>
          <a:xfrm>
            <a:off x="311700" y="1584225"/>
            <a:ext cx="8520600" cy="6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3375" lvl="0" marL="4572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50"/>
              <a:buAutoNum type="arabicPeriod"/>
            </a:pPr>
            <a:r>
              <a:rPr b="1" lang="en" sz="1650">
                <a:solidFill>
                  <a:srgbClr val="434343"/>
                </a:solidFill>
              </a:rPr>
              <a:t>Why ‘</a:t>
            </a:r>
            <a:r>
              <a:rPr b="1" lang="en" sz="1650">
                <a:solidFill>
                  <a:srgbClr val="434343"/>
                </a:solidFill>
              </a:rPr>
              <a:t>FLIP : Cross-domain Face Anti-Spoofing with Language Guidance’ </a:t>
            </a:r>
            <a:r>
              <a:rPr b="1" lang="en" sz="1650">
                <a:solidFill>
                  <a:srgbClr val="434343"/>
                </a:solidFill>
              </a:rPr>
              <a:t>title ?</a:t>
            </a:r>
            <a:endParaRPr b="1" sz="1650">
              <a:solidFill>
                <a:srgbClr val="434343"/>
              </a:solidFill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type="ctrTitle"/>
          </p:nvPr>
        </p:nvSpPr>
        <p:spPr>
          <a:xfrm>
            <a:off x="311700" y="2054775"/>
            <a:ext cx="8520600" cy="6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80">
                <a:solidFill>
                  <a:srgbClr val="434343"/>
                </a:solidFill>
              </a:rPr>
              <a:t>FLIP : Cross-domain Face Anti-Spoofing with Language Guidance</a:t>
            </a:r>
            <a:endParaRPr b="1" sz="2080">
              <a:solidFill>
                <a:srgbClr val="434343"/>
              </a:solidFill>
            </a:endParaRPr>
          </a:p>
        </p:txBody>
      </p:sp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053425" y="2270475"/>
            <a:ext cx="2490000" cy="46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1179800" y="2270475"/>
            <a:ext cx="1841100" cy="46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5575950" y="2270475"/>
            <a:ext cx="3222300" cy="46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351850" y="2270475"/>
            <a:ext cx="701700" cy="46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1943450" y="1760675"/>
            <a:ext cx="3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2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219925" y="1760675"/>
            <a:ext cx="3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1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6829725" y="1760675"/>
            <a:ext cx="3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3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545800" y="1760675"/>
            <a:ext cx="3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00"/>
                </a:solidFill>
              </a:rPr>
              <a:t>?</a:t>
            </a:r>
            <a:endParaRPr b="1" sz="1800">
              <a:solidFill>
                <a:srgbClr val="00FF00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351850" y="1002550"/>
            <a:ext cx="848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Let’s split the title …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>
            <p:ph type="ctrTitle"/>
          </p:nvPr>
        </p:nvSpPr>
        <p:spPr>
          <a:xfrm>
            <a:off x="311700" y="211725"/>
            <a:ext cx="8520600" cy="4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80">
                <a:solidFill>
                  <a:srgbClr val="D9D9D9"/>
                </a:solidFill>
              </a:rPr>
              <a:t>FLIP : Cross-domain</a:t>
            </a:r>
            <a:r>
              <a:rPr b="1" lang="en" sz="2080"/>
              <a:t> </a:t>
            </a:r>
            <a:r>
              <a:rPr b="1" lang="en" sz="2080">
                <a:solidFill>
                  <a:srgbClr val="434343"/>
                </a:solidFill>
              </a:rPr>
              <a:t>Face Anti-Spoofing</a:t>
            </a:r>
            <a:r>
              <a:rPr b="1" lang="en" sz="2080"/>
              <a:t> </a:t>
            </a:r>
            <a:r>
              <a:rPr b="1" lang="en" sz="2080">
                <a:solidFill>
                  <a:srgbClr val="D9D9D9"/>
                </a:solidFill>
              </a:rPr>
              <a:t>with Language Guidance</a:t>
            </a:r>
            <a:endParaRPr b="1" sz="2080">
              <a:solidFill>
                <a:srgbClr val="D9D9D9"/>
              </a:solidFill>
            </a:endParaRPr>
          </a:p>
        </p:txBody>
      </p:sp>
      <p:sp>
        <p:nvSpPr>
          <p:cNvPr id="94" name="Google Shape;94;p17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3053425" y="201975"/>
            <a:ext cx="2490000" cy="46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175213" y="2241500"/>
            <a:ext cx="226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</a:rPr>
              <a:t>Machine Learning (ML)</a:t>
            </a:r>
            <a:endParaRPr b="1" sz="1200">
              <a:solidFill>
                <a:srgbClr val="434343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1936588" y="1622963"/>
            <a:ext cx="2594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Classification tasks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●"/>
            </a:pPr>
            <a:r>
              <a:rPr lang="en" sz="1200">
                <a:solidFill>
                  <a:srgbClr val="D9D9D9"/>
                </a:solidFill>
              </a:rPr>
              <a:t>Regression</a:t>
            </a:r>
            <a:endParaRPr sz="1200">
              <a:solidFill>
                <a:srgbClr val="D9D9D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●"/>
            </a:pPr>
            <a:r>
              <a:rPr lang="en" sz="1200">
                <a:solidFill>
                  <a:srgbClr val="D9D9D9"/>
                </a:solidFill>
              </a:rPr>
              <a:t>Clustering</a:t>
            </a:r>
            <a:endParaRPr sz="1200">
              <a:solidFill>
                <a:srgbClr val="D9D9D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●"/>
            </a:pPr>
            <a:r>
              <a:rPr lang="en" sz="1200">
                <a:solidFill>
                  <a:srgbClr val="D9D9D9"/>
                </a:solidFill>
              </a:rPr>
              <a:t>Anomaly Detection</a:t>
            </a:r>
            <a:endParaRPr sz="1200">
              <a:solidFill>
                <a:srgbClr val="D9D9D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●"/>
            </a:pPr>
            <a:r>
              <a:rPr lang="en" sz="1200">
                <a:solidFill>
                  <a:srgbClr val="D9D9D9"/>
                </a:solidFill>
              </a:rPr>
              <a:t>Ranking</a:t>
            </a:r>
            <a:endParaRPr sz="1200">
              <a:solidFill>
                <a:srgbClr val="D9D9D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●"/>
            </a:pPr>
            <a:r>
              <a:rPr lang="en" sz="1200">
                <a:solidFill>
                  <a:srgbClr val="D9D9D9"/>
                </a:solidFill>
              </a:rPr>
              <a:t>Recommendation</a:t>
            </a:r>
            <a:endParaRPr sz="1200">
              <a:solidFill>
                <a:srgbClr val="D9D9D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●"/>
            </a:pPr>
            <a:r>
              <a:rPr lang="en" sz="1200">
                <a:solidFill>
                  <a:srgbClr val="D9D9D9"/>
                </a:solidFill>
              </a:rPr>
              <a:t>Forecasting</a:t>
            </a:r>
            <a:endParaRPr sz="1200">
              <a:solidFill>
                <a:srgbClr val="D9D9D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●"/>
            </a:pPr>
            <a:r>
              <a:rPr lang="en" sz="1200">
                <a:solidFill>
                  <a:srgbClr val="D9D9D9"/>
                </a:solidFill>
              </a:rPr>
              <a:t>Object Detection</a:t>
            </a:r>
            <a:endParaRPr sz="1200">
              <a:solidFill>
                <a:srgbClr val="D9D9D9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4086813" y="1622963"/>
            <a:ext cx="376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Binary Classification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●"/>
            </a:pPr>
            <a:r>
              <a:rPr lang="en" sz="1200">
                <a:solidFill>
                  <a:srgbClr val="D9D9D9"/>
                </a:solidFill>
              </a:rPr>
              <a:t>Multiclass Classification</a:t>
            </a:r>
            <a:endParaRPr sz="1200">
              <a:solidFill>
                <a:srgbClr val="D9D9D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●"/>
            </a:pPr>
            <a:r>
              <a:rPr lang="en" sz="1200">
                <a:solidFill>
                  <a:srgbClr val="D9D9D9"/>
                </a:solidFill>
              </a:rPr>
              <a:t>Image Classification</a:t>
            </a:r>
            <a:endParaRPr sz="1200">
              <a:solidFill>
                <a:srgbClr val="D9D9D9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6407088" y="1622963"/>
            <a:ext cx="256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Face Anti-Spoofing (FAS) : </a:t>
            </a:r>
            <a:r>
              <a:rPr b="1" lang="en" sz="1200">
                <a:solidFill>
                  <a:srgbClr val="FF0000"/>
                </a:solidFill>
              </a:rPr>
              <a:t>Why ?</a:t>
            </a:r>
            <a:endParaRPr b="1" sz="1200">
              <a:solidFill>
                <a:srgbClr val="FF0000"/>
              </a:solidFill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1800" y="2240113"/>
            <a:ext cx="972275" cy="9722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" name="Google Shape;101;p17"/>
          <p:cNvSpPr/>
          <p:nvPr/>
        </p:nvSpPr>
        <p:spPr>
          <a:xfrm>
            <a:off x="7603038" y="1956288"/>
            <a:ext cx="169800" cy="242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6818688" y="3579263"/>
            <a:ext cx="83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REAL (1)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7772838" y="3579263"/>
            <a:ext cx="108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SPOOF</a:t>
            </a:r>
            <a:r>
              <a:rPr b="1" lang="en" sz="1200">
                <a:solidFill>
                  <a:schemeClr val="dk2"/>
                </a:solidFill>
              </a:rPr>
              <a:t> (0)</a:t>
            </a:r>
            <a:endParaRPr b="1" sz="1200">
              <a:solidFill>
                <a:schemeClr val="dk2"/>
              </a:solidFill>
            </a:endParaRPr>
          </a:p>
        </p:txBody>
      </p:sp>
      <p:cxnSp>
        <p:nvCxnSpPr>
          <p:cNvPr id="104" name="Google Shape;104;p17"/>
          <p:cNvCxnSpPr>
            <a:stCxn id="100" idx="2"/>
            <a:endCxn id="102" idx="0"/>
          </p:cNvCxnSpPr>
          <p:nvPr/>
        </p:nvCxnSpPr>
        <p:spPr>
          <a:xfrm flipH="1">
            <a:off x="7233737" y="3212388"/>
            <a:ext cx="454200" cy="366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7"/>
          <p:cNvCxnSpPr>
            <a:stCxn id="100" idx="2"/>
            <a:endCxn id="103" idx="0"/>
          </p:cNvCxnSpPr>
          <p:nvPr/>
        </p:nvCxnSpPr>
        <p:spPr>
          <a:xfrm>
            <a:off x="7687937" y="3212388"/>
            <a:ext cx="629700" cy="366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3916863" y="1810938"/>
            <a:ext cx="26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7"/>
          <p:cNvCxnSpPr/>
          <p:nvPr/>
        </p:nvCxnSpPr>
        <p:spPr>
          <a:xfrm>
            <a:off x="6139188" y="1810925"/>
            <a:ext cx="26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7"/>
          <p:cNvSpPr txBox="1"/>
          <p:nvPr/>
        </p:nvSpPr>
        <p:spPr>
          <a:xfrm>
            <a:off x="4111525" y="669975"/>
            <a:ext cx="37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1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>
            <p:ph type="ctrTitle"/>
          </p:nvPr>
        </p:nvSpPr>
        <p:spPr>
          <a:xfrm>
            <a:off x="311700" y="211725"/>
            <a:ext cx="8520600" cy="4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80">
                <a:solidFill>
                  <a:srgbClr val="D9D9D9"/>
                </a:solidFill>
              </a:rPr>
              <a:t>FLIP : </a:t>
            </a:r>
            <a:r>
              <a:rPr b="1" lang="en" sz="2080">
                <a:solidFill>
                  <a:srgbClr val="434343"/>
                </a:solidFill>
              </a:rPr>
              <a:t>Cross-domain</a:t>
            </a:r>
            <a:r>
              <a:rPr b="1" lang="en" sz="2080"/>
              <a:t> </a:t>
            </a:r>
            <a:r>
              <a:rPr b="1" lang="en" sz="2080">
                <a:solidFill>
                  <a:srgbClr val="434343"/>
                </a:solidFill>
              </a:rPr>
              <a:t>Face Anti-Spoofing</a:t>
            </a:r>
            <a:r>
              <a:rPr b="1" lang="en" sz="2080"/>
              <a:t> </a:t>
            </a:r>
            <a:r>
              <a:rPr b="1" lang="en" sz="2080">
                <a:solidFill>
                  <a:srgbClr val="D9D9D9"/>
                </a:solidFill>
              </a:rPr>
              <a:t>with Language Guidance</a:t>
            </a:r>
            <a:endParaRPr b="1" sz="2080">
              <a:solidFill>
                <a:srgbClr val="D9D9D9"/>
              </a:solidFill>
            </a:endParaRPr>
          </a:p>
        </p:txBody>
      </p:sp>
      <p:sp>
        <p:nvSpPr>
          <p:cNvPr id="115" name="Google Shape;115;p18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1205950" y="201975"/>
            <a:ext cx="1841100" cy="46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1974550" y="660225"/>
            <a:ext cx="30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2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292050" y="1344150"/>
            <a:ext cx="2986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highlight>
                  <a:srgbClr val="FFFFFF"/>
                </a:highlight>
              </a:rPr>
              <a:t>Google : </a:t>
            </a:r>
            <a:r>
              <a:rPr b="1" lang="en" sz="1200">
                <a:solidFill>
                  <a:srgbClr val="434343"/>
                </a:solidFill>
                <a:highlight>
                  <a:srgbClr val="FFFFFF"/>
                </a:highlight>
              </a:rPr>
              <a:t>What is domain in DL?</a:t>
            </a:r>
            <a:br>
              <a:rPr lang="en" sz="1200">
                <a:solidFill>
                  <a:srgbClr val="434343"/>
                </a:solidFill>
                <a:highlight>
                  <a:srgbClr val="FFFFFF"/>
                </a:highlight>
              </a:rPr>
            </a:br>
            <a:br>
              <a:rPr lang="en" sz="1200">
                <a:solidFill>
                  <a:srgbClr val="FF0000"/>
                </a:solidFill>
                <a:highlight>
                  <a:srgbClr val="FFFFFF"/>
                </a:highlight>
              </a:rPr>
            </a:br>
            <a:r>
              <a:rPr lang="en" sz="1200">
                <a:solidFill>
                  <a:srgbClr val="FF0000"/>
                </a:solidFill>
                <a:highlight>
                  <a:srgbClr val="FFFFFF"/>
                </a:highlight>
              </a:rPr>
              <a:t>Google :</a:t>
            </a:r>
            <a:r>
              <a:rPr lang="en" sz="1200">
                <a:solidFill>
                  <a:srgbClr val="434343"/>
                </a:solidFill>
                <a:highlight>
                  <a:srgbClr val="FFFFFF"/>
                </a:highlight>
              </a:rPr>
              <a:t> In deep learning, a "domain" refers to </a:t>
            </a:r>
            <a:r>
              <a:rPr lang="en" sz="1200">
                <a:solidFill>
                  <a:srgbClr val="434343"/>
                </a:solidFill>
              </a:rPr>
              <a:t>a specific area or context of data with a particular distribution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311700" y="2786975"/>
            <a:ext cx="2947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34343"/>
                </a:solidFill>
                <a:highlight>
                  <a:srgbClr val="FFFFFF"/>
                </a:highlight>
              </a:rPr>
              <a:t>So what can be ‘domain’ in FAS task?</a:t>
            </a:r>
            <a:br>
              <a:rPr lang="en" sz="1200">
                <a:solidFill>
                  <a:srgbClr val="434343"/>
                </a:solidFill>
                <a:highlight>
                  <a:srgbClr val="FFFFFF"/>
                </a:highlight>
              </a:rPr>
            </a:br>
            <a:endParaRPr sz="12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b="1" lang="en" sz="1200">
                <a:solidFill>
                  <a:srgbClr val="434343"/>
                </a:solidFill>
                <a:highlight>
                  <a:srgbClr val="FFFFFF"/>
                </a:highlight>
              </a:rPr>
              <a:t>Camera :</a:t>
            </a:r>
            <a:r>
              <a:rPr lang="en" sz="1200">
                <a:solidFill>
                  <a:srgbClr val="434343"/>
                </a:solidFill>
                <a:highlight>
                  <a:srgbClr val="FFFFFF"/>
                </a:highlight>
              </a:rPr>
              <a:t> mobile, webcam, sensor devices, etc</a:t>
            </a:r>
            <a:endParaRPr sz="12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b="1" lang="en" sz="1200">
                <a:solidFill>
                  <a:srgbClr val="434343"/>
                </a:solidFill>
                <a:highlight>
                  <a:srgbClr val="FFFFFF"/>
                </a:highlight>
              </a:rPr>
              <a:t>Environment</a:t>
            </a:r>
            <a:r>
              <a:rPr b="1" lang="en" sz="1200">
                <a:solidFill>
                  <a:srgbClr val="434343"/>
                </a:solidFill>
                <a:highlight>
                  <a:srgbClr val="FFFFFF"/>
                </a:highlight>
              </a:rPr>
              <a:t> : </a:t>
            </a:r>
            <a:r>
              <a:rPr lang="en" sz="1200">
                <a:solidFill>
                  <a:srgbClr val="434343"/>
                </a:solidFill>
                <a:highlight>
                  <a:srgbClr val="FFFFFF"/>
                </a:highlight>
              </a:rPr>
              <a:t>lighting variations, darkness, etc.</a:t>
            </a:r>
            <a:endParaRPr sz="12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b="1" lang="en" sz="1200">
                <a:solidFill>
                  <a:srgbClr val="434343"/>
                </a:solidFill>
                <a:highlight>
                  <a:srgbClr val="FFFFFF"/>
                </a:highlight>
              </a:rPr>
              <a:t>Spoofing Attacks:</a:t>
            </a:r>
            <a:r>
              <a:rPr lang="en" sz="1200">
                <a:solidFill>
                  <a:srgbClr val="434343"/>
                </a:solidFill>
                <a:highlight>
                  <a:srgbClr val="FFFFFF"/>
                </a:highlight>
              </a:rPr>
              <a:t> printed photo,</a:t>
            </a:r>
            <a:br>
              <a:rPr lang="en" sz="1200">
                <a:solidFill>
                  <a:srgbClr val="434343"/>
                </a:solidFill>
                <a:highlight>
                  <a:srgbClr val="FFFFFF"/>
                </a:highlight>
              </a:rPr>
            </a:br>
            <a:r>
              <a:rPr lang="en" sz="1200">
                <a:solidFill>
                  <a:srgbClr val="434343"/>
                </a:solidFill>
                <a:highlight>
                  <a:srgbClr val="FFFFFF"/>
                </a:highlight>
              </a:rPr>
              <a:t>replay attack, 3D masks , etc</a:t>
            </a:r>
            <a:br>
              <a:rPr lang="en" sz="1200">
                <a:solidFill>
                  <a:srgbClr val="434343"/>
                </a:solidFill>
                <a:highlight>
                  <a:srgbClr val="FFFFFF"/>
                </a:highlight>
              </a:rPr>
            </a:br>
            <a:endParaRPr sz="1200">
              <a:solidFill>
                <a:srgbClr val="434343"/>
              </a:solidFill>
              <a:highlight>
                <a:srgbClr val="FFFFFF"/>
              </a:highlight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234225" y="1344150"/>
            <a:ext cx="3044700" cy="1175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234225" y="2786975"/>
            <a:ext cx="3044700" cy="168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3765800" y="1697300"/>
            <a:ext cx="1908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                   </a:t>
            </a:r>
            <a:r>
              <a:rPr b="1" lang="en" sz="1200">
                <a:solidFill>
                  <a:schemeClr val="dk2"/>
                </a:solidFill>
              </a:rPr>
              <a:t>       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In-domain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Model TRAINING and 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TESTING domain is the 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same.                                                   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5808676" y="1658075"/>
            <a:ext cx="2911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                   </a:t>
            </a:r>
            <a:r>
              <a:rPr b="1" lang="en" sz="1200">
                <a:solidFill>
                  <a:schemeClr val="dk2"/>
                </a:solidFill>
              </a:rPr>
              <a:t>       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Cross</a:t>
            </a:r>
            <a:r>
              <a:rPr b="1" lang="en" sz="1200">
                <a:solidFill>
                  <a:schemeClr val="dk2"/>
                </a:solidFill>
              </a:rPr>
              <a:t>-domain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Model TRAINING and 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TESTING domain is </a:t>
            </a:r>
            <a:r>
              <a:rPr b="1" lang="en" sz="1200">
                <a:solidFill>
                  <a:schemeClr val="dk2"/>
                </a:solidFill>
              </a:rPr>
              <a:t>NOT</a:t>
            </a:r>
            <a:r>
              <a:rPr lang="en" sz="1200">
                <a:solidFill>
                  <a:schemeClr val="dk2"/>
                </a:solidFill>
              </a:rPr>
              <a:t>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 same.                                                   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5092500" y="1344150"/>
            <a:ext cx="83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DOMAIN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3582775" y="1344150"/>
            <a:ext cx="4228500" cy="1847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" name="Google Shape;126;p18"/>
          <p:cNvCxnSpPr>
            <a:stCxn id="121" idx="3"/>
            <a:endCxn id="125" idx="1"/>
          </p:cNvCxnSpPr>
          <p:nvPr/>
        </p:nvCxnSpPr>
        <p:spPr>
          <a:xfrm flipH="1" rot="10800000">
            <a:off x="3278925" y="2267675"/>
            <a:ext cx="303900" cy="13623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8"/>
          <p:cNvCxnSpPr>
            <a:stCxn id="120" idx="2"/>
            <a:endCxn id="121" idx="0"/>
          </p:cNvCxnSpPr>
          <p:nvPr/>
        </p:nvCxnSpPr>
        <p:spPr>
          <a:xfrm>
            <a:off x="1756575" y="2519550"/>
            <a:ext cx="0" cy="267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8"/>
          <p:cNvSpPr/>
          <p:nvPr/>
        </p:nvSpPr>
        <p:spPr>
          <a:xfrm>
            <a:off x="5739550" y="2068500"/>
            <a:ext cx="1960800" cy="1006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18"/>
          <p:cNvCxnSpPr>
            <a:endCxn id="128" idx="2"/>
          </p:cNvCxnSpPr>
          <p:nvPr/>
        </p:nvCxnSpPr>
        <p:spPr>
          <a:xfrm rot="10800000">
            <a:off x="6719950" y="3075000"/>
            <a:ext cx="6300" cy="5616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18"/>
          <p:cNvSpPr txBox="1"/>
          <p:nvPr/>
        </p:nvSpPr>
        <p:spPr>
          <a:xfrm>
            <a:off x="5360475" y="3558350"/>
            <a:ext cx="309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This is our primary task. Because we don’t 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know the exact domain (user attack types 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2D/3D, </a:t>
            </a:r>
            <a:r>
              <a:rPr lang="en" sz="1200">
                <a:solidFill>
                  <a:schemeClr val="dk2"/>
                </a:solidFill>
              </a:rPr>
              <a:t>environment</a:t>
            </a:r>
            <a:r>
              <a:rPr lang="en" sz="1200">
                <a:solidFill>
                  <a:schemeClr val="dk2"/>
                </a:solidFill>
              </a:rPr>
              <a:t>, different devices,etc).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5264525" y="3629975"/>
            <a:ext cx="3141600" cy="607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 txBox="1"/>
          <p:nvPr>
            <p:ph type="ctrTitle"/>
          </p:nvPr>
        </p:nvSpPr>
        <p:spPr>
          <a:xfrm>
            <a:off x="311700" y="211725"/>
            <a:ext cx="8520600" cy="4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80">
                <a:solidFill>
                  <a:srgbClr val="D9D9D9"/>
                </a:solidFill>
              </a:rPr>
              <a:t>FLIP : </a:t>
            </a:r>
            <a:r>
              <a:rPr b="1" lang="en" sz="2080">
                <a:solidFill>
                  <a:srgbClr val="434343"/>
                </a:solidFill>
              </a:rPr>
              <a:t>Cross-domain Face Anti-Spoofing</a:t>
            </a:r>
            <a:r>
              <a:rPr b="1" lang="en" sz="2080"/>
              <a:t> </a:t>
            </a:r>
            <a:r>
              <a:rPr b="1" lang="en" sz="2080">
                <a:solidFill>
                  <a:srgbClr val="434343"/>
                </a:solidFill>
              </a:rPr>
              <a:t>with Language Guidance</a:t>
            </a:r>
            <a:endParaRPr b="1" sz="2080">
              <a:solidFill>
                <a:srgbClr val="434343"/>
              </a:solidFill>
            </a:endParaRPr>
          </a:p>
        </p:txBody>
      </p:sp>
      <p:sp>
        <p:nvSpPr>
          <p:cNvPr id="138" name="Google Shape;138;p19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5549800" y="201975"/>
            <a:ext cx="3222300" cy="46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7004050" y="669975"/>
            <a:ext cx="3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3</a:t>
            </a:r>
            <a:endParaRPr b="1" sz="1800">
              <a:solidFill>
                <a:srgbClr val="FF0000"/>
              </a:solidFill>
            </a:endParaRPr>
          </a:p>
        </p:txBody>
      </p:sp>
      <p:pic>
        <p:nvPicPr>
          <p:cNvPr id="141" name="Google Shape;14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50" y="2044506"/>
            <a:ext cx="3798718" cy="208756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 txBox="1"/>
          <p:nvPr/>
        </p:nvSpPr>
        <p:spPr>
          <a:xfrm>
            <a:off x="311700" y="1289125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           Image Classification with ResNet-101                                                   Image Classification on ImageNet           </a:t>
            </a:r>
            <a:endParaRPr b="1" sz="1200">
              <a:solidFill>
                <a:schemeClr val="dk2"/>
              </a:solidFill>
            </a:endParaRPr>
          </a:p>
        </p:txBody>
      </p:sp>
      <p:pic>
        <p:nvPicPr>
          <p:cNvPr id="143" name="Google Shape;14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0475" y="2044500"/>
            <a:ext cx="4451826" cy="20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 txBox="1"/>
          <p:nvPr>
            <p:ph type="ctrTitle"/>
          </p:nvPr>
        </p:nvSpPr>
        <p:spPr>
          <a:xfrm>
            <a:off x="311700" y="211725"/>
            <a:ext cx="8520600" cy="4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80">
                <a:solidFill>
                  <a:srgbClr val="D9D9D9"/>
                </a:solidFill>
              </a:rPr>
              <a:t>FLIP : </a:t>
            </a:r>
            <a:r>
              <a:rPr b="1" lang="en" sz="2080">
                <a:solidFill>
                  <a:srgbClr val="434343"/>
                </a:solidFill>
              </a:rPr>
              <a:t>Cross-domain Face Anti-Spoofing</a:t>
            </a:r>
            <a:r>
              <a:rPr b="1" lang="en" sz="2080"/>
              <a:t> </a:t>
            </a:r>
            <a:r>
              <a:rPr b="1" lang="en" sz="2080">
                <a:solidFill>
                  <a:srgbClr val="434343"/>
                </a:solidFill>
              </a:rPr>
              <a:t>with Language Guidance</a:t>
            </a:r>
            <a:endParaRPr b="1" sz="2080">
              <a:solidFill>
                <a:srgbClr val="434343"/>
              </a:solidFill>
            </a:endParaRPr>
          </a:p>
        </p:txBody>
      </p:sp>
      <p:sp>
        <p:nvSpPr>
          <p:cNvPr id="150" name="Google Shape;150;p20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5549800" y="201975"/>
            <a:ext cx="3222300" cy="46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7004050" y="740650"/>
            <a:ext cx="3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3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311688" y="897338"/>
            <a:ext cx="485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Image Classification with CLIP based mode (</a:t>
            </a:r>
            <a:r>
              <a:rPr b="1" lang="en" sz="1200">
                <a:solidFill>
                  <a:srgbClr val="FF0000"/>
                </a:solidFill>
              </a:rPr>
              <a:t>by OpenAI)</a:t>
            </a:r>
            <a:endParaRPr b="1" sz="1200">
              <a:solidFill>
                <a:srgbClr val="FF0000"/>
              </a:solidFill>
            </a:endParaRPr>
          </a:p>
        </p:txBody>
      </p:sp>
      <p:pic>
        <p:nvPicPr>
          <p:cNvPr id="154" name="Google Shape;15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24300"/>
            <a:ext cx="5611300" cy="24198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8574" y="2835052"/>
            <a:ext cx="2524575" cy="14090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" name="Google Shape;156;p20"/>
          <p:cNvSpPr txBox="1"/>
          <p:nvPr/>
        </p:nvSpPr>
        <p:spPr>
          <a:xfrm>
            <a:off x="6278125" y="2017675"/>
            <a:ext cx="209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Simple view of vector space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57" name="Google Shape;157;p20"/>
          <p:cNvCxnSpPr>
            <a:endCxn id="155" idx="0"/>
          </p:cNvCxnSpPr>
          <p:nvPr/>
        </p:nvCxnSpPr>
        <p:spPr>
          <a:xfrm flipH="1">
            <a:off x="7420862" y="2326852"/>
            <a:ext cx="347400" cy="508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20"/>
          <p:cNvCxnSpPr>
            <a:endCxn id="154" idx="0"/>
          </p:cNvCxnSpPr>
          <p:nvPr/>
        </p:nvCxnSpPr>
        <p:spPr>
          <a:xfrm>
            <a:off x="2563850" y="1200000"/>
            <a:ext cx="553500" cy="62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"/>
          <p:cNvSpPr txBox="1"/>
          <p:nvPr>
            <p:ph type="ctrTitle"/>
          </p:nvPr>
        </p:nvSpPr>
        <p:spPr>
          <a:xfrm>
            <a:off x="311700" y="211725"/>
            <a:ext cx="8520600" cy="4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80">
                <a:solidFill>
                  <a:srgbClr val="D9D9D9"/>
                </a:solidFill>
              </a:rPr>
              <a:t>FLIP : </a:t>
            </a:r>
            <a:r>
              <a:rPr b="1" lang="en" sz="2080">
                <a:solidFill>
                  <a:srgbClr val="434343"/>
                </a:solidFill>
              </a:rPr>
              <a:t>Cross-domain Face Anti-Spoofing</a:t>
            </a:r>
            <a:r>
              <a:rPr b="1" lang="en" sz="2080"/>
              <a:t> </a:t>
            </a:r>
            <a:r>
              <a:rPr b="1" lang="en" sz="2080">
                <a:solidFill>
                  <a:srgbClr val="434343"/>
                </a:solidFill>
              </a:rPr>
              <a:t>with Language Guidance</a:t>
            </a:r>
            <a:endParaRPr b="1" sz="2080">
              <a:solidFill>
                <a:srgbClr val="434343"/>
              </a:solidFill>
            </a:endParaRPr>
          </a:p>
        </p:txBody>
      </p:sp>
      <p:sp>
        <p:nvSpPr>
          <p:cNvPr id="165" name="Google Shape;165;p21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5549800" y="201975"/>
            <a:ext cx="3222300" cy="46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7004050" y="669975"/>
            <a:ext cx="3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3</a:t>
            </a:r>
            <a:endParaRPr b="1" sz="1800">
              <a:solidFill>
                <a:srgbClr val="FF0000"/>
              </a:solidFill>
            </a:endParaRPr>
          </a:p>
        </p:txBody>
      </p:sp>
      <p:pic>
        <p:nvPicPr>
          <p:cNvPr id="168" name="Google Shape;16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0425" y="1571225"/>
            <a:ext cx="4809400" cy="303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/>
        </p:nvSpPr>
        <p:spPr>
          <a:xfrm>
            <a:off x="223525" y="1244375"/>
            <a:ext cx="376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0" name="Google Shape;17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526" y="1271050"/>
            <a:ext cx="2536477" cy="139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/>
          <p:cNvPicPr preferRelativeResize="0"/>
          <p:nvPr/>
        </p:nvPicPr>
        <p:blipFill rotWithShape="1">
          <a:blip r:embed="rId5">
            <a:alphaModFix/>
          </a:blip>
          <a:srcRect b="0" l="0" r="50233" t="0"/>
          <a:stretch/>
        </p:blipFill>
        <p:spPr>
          <a:xfrm>
            <a:off x="587525" y="2955675"/>
            <a:ext cx="2536474" cy="1432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21"/>
          <p:cNvCxnSpPr>
            <a:stCxn id="170" idx="0"/>
          </p:cNvCxnSpPr>
          <p:nvPr/>
        </p:nvCxnSpPr>
        <p:spPr>
          <a:xfrm rot="-5400000">
            <a:off x="4676364" y="-1615550"/>
            <a:ext cx="66000" cy="5707200"/>
          </a:xfrm>
          <a:prstGeom prst="bentConnector2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1"/>
          <p:cNvCxnSpPr/>
          <p:nvPr/>
        </p:nvCxnSpPr>
        <p:spPr>
          <a:xfrm>
            <a:off x="7556425" y="1211700"/>
            <a:ext cx="0" cy="320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1"/>
          <p:cNvCxnSpPr>
            <a:stCxn id="171" idx="0"/>
          </p:cNvCxnSpPr>
          <p:nvPr/>
        </p:nvCxnSpPr>
        <p:spPr>
          <a:xfrm rot="-5400000">
            <a:off x="2602162" y="2099175"/>
            <a:ext cx="110100" cy="1602900"/>
          </a:xfrm>
          <a:prstGeom prst="bentConnector2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1"/>
          <p:cNvCxnSpPr/>
          <p:nvPr/>
        </p:nvCxnSpPr>
        <p:spPr>
          <a:xfrm flipH="1" rot="10800000">
            <a:off x="3452100" y="1375225"/>
            <a:ext cx="13200" cy="1476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1"/>
          <p:cNvCxnSpPr/>
          <p:nvPr/>
        </p:nvCxnSpPr>
        <p:spPr>
          <a:xfrm>
            <a:off x="3465175" y="1375075"/>
            <a:ext cx="4463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1"/>
          <p:cNvCxnSpPr/>
          <p:nvPr/>
        </p:nvCxnSpPr>
        <p:spPr>
          <a:xfrm>
            <a:off x="7928875" y="1375075"/>
            <a:ext cx="0" cy="150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 txBox="1"/>
          <p:nvPr>
            <p:ph type="ctrTitle"/>
          </p:nvPr>
        </p:nvSpPr>
        <p:spPr>
          <a:xfrm>
            <a:off x="311700" y="211725"/>
            <a:ext cx="8520600" cy="4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80">
                <a:solidFill>
                  <a:srgbClr val="434343"/>
                </a:solidFill>
              </a:rPr>
              <a:t>FLIP :</a:t>
            </a:r>
            <a:r>
              <a:rPr b="1" lang="en" sz="2080">
                <a:solidFill>
                  <a:srgbClr val="D9D9D9"/>
                </a:solidFill>
              </a:rPr>
              <a:t> </a:t>
            </a:r>
            <a:r>
              <a:rPr b="1" lang="en" sz="2080">
                <a:solidFill>
                  <a:srgbClr val="434343"/>
                </a:solidFill>
              </a:rPr>
              <a:t>Cross-domain Face Anti-Spoofing with Language Guidance</a:t>
            </a:r>
            <a:endParaRPr b="1" sz="2080">
              <a:solidFill>
                <a:srgbClr val="434343"/>
              </a:solidFill>
            </a:endParaRPr>
          </a:p>
        </p:txBody>
      </p:sp>
      <p:sp>
        <p:nvSpPr>
          <p:cNvPr id="184" name="Google Shape;184;p22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351850" y="152950"/>
            <a:ext cx="701700" cy="46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545800" y="660225"/>
            <a:ext cx="3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00"/>
                </a:solidFill>
              </a:rPr>
              <a:t>?</a:t>
            </a:r>
            <a:endParaRPr b="1" sz="1800">
              <a:solidFill>
                <a:srgbClr val="00FF00"/>
              </a:solidFill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351850" y="3085875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 classification task in </a:t>
            </a:r>
            <a:r>
              <a:rPr b="1" lang="en" sz="1200">
                <a:solidFill>
                  <a:schemeClr val="dk2"/>
                </a:solidFill>
              </a:rPr>
              <a:t>face anti-spoofing</a:t>
            </a:r>
            <a:r>
              <a:rPr lang="en" sz="1200">
                <a:solidFill>
                  <a:schemeClr val="dk2"/>
                </a:solidFill>
              </a:rPr>
              <a:t>, combined with </a:t>
            </a:r>
            <a:r>
              <a:rPr b="1" lang="en" sz="1200">
                <a:solidFill>
                  <a:schemeClr val="dk2"/>
                </a:solidFill>
              </a:rPr>
              <a:t>cross-domain learning</a:t>
            </a:r>
            <a:r>
              <a:rPr lang="en" sz="1200">
                <a:solidFill>
                  <a:schemeClr val="dk2"/>
                </a:solidFill>
              </a:rPr>
              <a:t> and </a:t>
            </a:r>
            <a:r>
              <a:rPr b="1" lang="en" sz="1200">
                <a:solidFill>
                  <a:schemeClr val="dk2"/>
                </a:solidFill>
              </a:rPr>
              <a:t>language guidance</a:t>
            </a:r>
            <a:r>
              <a:rPr lang="en" sz="1200">
                <a:solidFill>
                  <a:schemeClr val="dk2"/>
                </a:solidFill>
              </a:rPr>
              <a:t>, can help us</a:t>
            </a:r>
            <a:br>
              <a:rPr lang="en" sz="1200">
                <a:solidFill>
                  <a:schemeClr val="dk2"/>
                </a:solidFill>
              </a:rPr>
            </a:b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develop a new method called ‘</a:t>
            </a:r>
            <a:r>
              <a:rPr b="1" lang="en" sz="1200">
                <a:solidFill>
                  <a:schemeClr val="dk2"/>
                </a:solidFill>
              </a:rPr>
              <a:t>FLIP</a:t>
            </a:r>
            <a:r>
              <a:rPr lang="en" sz="1200">
                <a:solidFill>
                  <a:schemeClr val="dk2"/>
                </a:solidFill>
              </a:rPr>
              <a:t>’.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88" name="Google Shape;18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0925" y="972238"/>
            <a:ext cx="972275" cy="9722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9" name="Google Shape;189;p22"/>
          <p:cNvSpPr txBox="1"/>
          <p:nvPr/>
        </p:nvSpPr>
        <p:spPr>
          <a:xfrm>
            <a:off x="1877813" y="2311388"/>
            <a:ext cx="83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REAL (1)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2831963" y="2311388"/>
            <a:ext cx="108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SPOOF (0)</a:t>
            </a:r>
            <a:endParaRPr b="1" sz="1200">
              <a:solidFill>
                <a:schemeClr val="dk2"/>
              </a:solidFill>
            </a:endParaRPr>
          </a:p>
        </p:txBody>
      </p:sp>
      <p:cxnSp>
        <p:nvCxnSpPr>
          <p:cNvPr id="191" name="Google Shape;191;p22"/>
          <p:cNvCxnSpPr>
            <a:stCxn id="188" idx="2"/>
            <a:endCxn id="189" idx="0"/>
          </p:cNvCxnSpPr>
          <p:nvPr/>
        </p:nvCxnSpPr>
        <p:spPr>
          <a:xfrm flipH="1">
            <a:off x="2292862" y="1944513"/>
            <a:ext cx="454200" cy="366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22"/>
          <p:cNvCxnSpPr>
            <a:stCxn id="188" idx="2"/>
            <a:endCxn id="190" idx="0"/>
          </p:cNvCxnSpPr>
          <p:nvPr/>
        </p:nvCxnSpPr>
        <p:spPr>
          <a:xfrm>
            <a:off x="2747062" y="1944513"/>
            <a:ext cx="629700" cy="366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" name="Google Shape;193;p22"/>
          <p:cNvSpPr/>
          <p:nvPr/>
        </p:nvSpPr>
        <p:spPr>
          <a:xfrm>
            <a:off x="1825550" y="856325"/>
            <a:ext cx="1933800" cy="1922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4" name="Google Shape;194;p22"/>
          <p:cNvCxnSpPr/>
          <p:nvPr/>
        </p:nvCxnSpPr>
        <p:spPr>
          <a:xfrm rot="10800000">
            <a:off x="2759325" y="2891400"/>
            <a:ext cx="0" cy="2679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p22"/>
          <p:cNvSpPr txBox="1"/>
          <p:nvPr/>
        </p:nvSpPr>
        <p:spPr>
          <a:xfrm>
            <a:off x="4452025" y="1198625"/>
            <a:ext cx="376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3921275" y="893825"/>
            <a:ext cx="2511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b="1" lang="en" sz="1200">
                <a:solidFill>
                  <a:srgbClr val="434343"/>
                </a:solidFill>
                <a:highlight>
                  <a:schemeClr val="lt1"/>
                </a:highlight>
              </a:rPr>
              <a:t>Camera :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</a:rPr>
              <a:t> mobile, webcam, </a:t>
            </a:r>
            <a:br>
              <a:rPr lang="en" sz="1200">
                <a:solidFill>
                  <a:srgbClr val="434343"/>
                </a:solidFill>
                <a:highlight>
                  <a:schemeClr val="lt1"/>
                </a:highlight>
              </a:rPr>
            </a:b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</a:rPr>
              <a:t>sensor devices, etc</a:t>
            </a:r>
            <a:endParaRPr sz="1200">
              <a:solidFill>
                <a:srgbClr val="434343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b="1" lang="en" sz="1200">
                <a:solidFill>
                  <a:srgbClr val="434343"/>
                </a:solidFill>
                <a:highlight>
                  <a:schemeClr val="lt1"/>
                </a:highlight>
              </a:rPr>
              <a:t>Environment : 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</a:rPr>
              <a:t>lighting </a:t>
            </a:r>
            <a:br>
              <a:rPr lang="en" sz="1200">
                <a:solidFill>
                  <a:srgbClr val="434343"/>
                </a:solidFill>
                <a:highlight>
                  <a:schemeClr val="lt1"/>
                </a:highlight>
              </a:rPr>
            </a:b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</a:rPr>
              <a:t>variations, darkness, etc.</a:t>
            </a:r>
            <a:endParaRPr sz="1200">
              <a:solidFill>
                <a:srgbClr val="434343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b="1" lang="en" sz="1200">
                <a:solidFill>
                  <a:srgbClr val="434343"/>
                </a:solidFill>
                <a:highlight>
                  <a:schemeClr val="lt1"/>
                </a:highlight>
              </a:rPr>
              <a:t>Spoofing Attacks:</a:t>
            </a: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</a:rPr>
              <a:t> printed </a:t>
            </a:r>
            <a:br>
              <a:rPr lang="en" sz="1200">
                <a:solidFill>
                  <a:srgbClr val="434343"/>
                </a:solidFill>
                <a:highlight>
                  <a:schemeClr val="lt1"/>
                </a:highlight>
              </a:rPr>
            </a:b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</a:rPr>
              <a:t>Photo, replay attack, 3D </a:t>
            </a:r>
            <a:br>
              <a:rPr lang="en" sz="1200">
                <a:solidFill>
                  <a:srgbClr val="434343"/>
                </a:solidFill>
                <a:highlight>
                  <a:schemeClr val="lt1"/>
                </a:highlight>
              </a:rPr>
            </a:br>
            <a:r>
              <a:rPr lang="en" sz="1200">
                <a:solidFill>
                  <a:srgbClr val="434343"/>
                </a:solidFill>
                <a:highlight>
                  <a:schemeClr val="lt1"/>
                </a:highlight>
              </a:rPr>
              <a:t>masks , etc</a:t>
            </a:r>
            <a:br>
              <a:rPr lang="en" sz="1200">
                <a:solidFill>
                  <a:srgbClr val="434343"/>
                </a:solidFill>
                <a:highlight>
                  <a:schemeClr val="lt1"/>
                </a:highlight>
              </a:rPr>
            </a:br>
            <a:endParaRPr sz="1200">
              <a:solidFill>
                <a:srgbClr val="434343"/>
              </a:solidFill>
              <a:highlight>
                <a:schemeClr val="lt1"/>
              </a:highlight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4006200" y="856325"/>
            <a:ext cx="2426100" cy="1922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8" name="Google Shape;198;p22"/>
          <p:cNvCxnSpPr/>
          <p:nvPr/>
        </p:nvCxnSpPr>
        <p:spPr>
          <a:xfrm rot="10800000">
            <a:off x="5258000" y="2891400"/>
            <a:ext cx="0" cy="2679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9" name="Google Shape;199;p22"/>
          <p:cNvPicPr preferRelativeResize="0"/>
          <p:nvPr/>
        </p:nvPicPr>
        <p:blipFill rotWithShape="1">
          <a:blip r:embed="rId4">
            <a:alphaModFix/>
          </a:blip>
          <a:srcRect b="0" l="0" r="50233" t="9189"/>
          <a:stretch/>
        </p:blipFill>
        <p:spPr>
          <a:xfrm>
            <a:off x="6060275" y="3597175"/>
            <a:ext cx="2230502" cy="1144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/>
          <p:nvPr/>
        </p:nvSpPr>
        <p:spPr>
          <a:xfrm>
            <a:off x="5962475" y="3564500"/>
            <a:ext cx="2426100" cy="129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22"/>
          <p:cNvCxnSpPr/>
          <p:nvPr/>
        </p:nvCxnSpPr>
        <p:spPr>
          <a:xfrm>
            <a:off x="7177375" y="3407650"/>
            <a:ext cx="3900" cy="1425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22"/>
          <p:cNvSpPr/>
          <p:nvPr/>
        </p:nvSpPr>
        <p:spPr>
          <a:xfrm>
            <a:off x="2441600" y="3435875"/>
            <a:ext cx="494100" cy="36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2531738" y="3938450"/>
            <a:ext cx="3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00"/>
                </a:solidFill>
              </a:rPr>
              <a:t>?</a:t>
            </a:r>
            <a:endParaRPr b="1" sz="1800">
              <a:solidFill>
                <a:srgbClr val="00FF00"/>
              </a:solidFill>
            </a:endParaRPr>
          </a:p>
        </p:txBody>
      </p:sp>
      <p:cxnSp>
        <p:nvCxnSpPr>
          <p:cNvPr id="204" name="Google Shape;204;p22"/>
          <p:cNvCxnSpPr/>
          <p:nvPr/>
        </p:nvCxnSpPr>
        <p:spPr>
          <a:xfrm>
            <a:off x="2686700" y="3854150"/>
            <a:ext cx="3900" cy="1425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"/>
          <p:cNvSpPr txBox="1"/>
          <p:nvPr>
            <p:ph type="ctrTitle"/>
          </p:nvPr>
        </p:nvSpPr>
        <p:spPr>
          <a:xfrm>
            <a:off x="311700" y="1584225"/>
            <a:ext cx="8520600" cy="6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434343"/>
                </a:solidFill>
              </a:rPr>
              <a:t>2.    What is FLIP framework ? </a:t>
            </a:r>
            <a:endParaRPr b="1" sz="1650">
              <a:solidFill>
                <a:srgbClr val="434343"/>
              </a:solidFill>
            </a:endParaRPr>
          </a:p>
        </p:txBody>
      </p:sp>
      <p:sp>
        <p:nvSpPr>
          <p:cNvPr id="211" name="Google Shape;211;p23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4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351850" y="1122425"/>
            <a:ext cx="37644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Face Anti</a:t>
            </a:r>
            <a:r>
              <a:rPr b="1" lang="en" sz="1200">
                <a:solidFill>
                  <a:schemeClr val="dk2"/>
                </a:solidFill>
              </a:rPr>
              <a:t>-S</a:t>
            </a:r>
            <a:r>
              <a:rPr b="1" lang="en" sz="1200">
                <a:solidFill>
                  <a:schemeClr val="dk2"/>
                </a:solidFill>
              </a:rPr>
              <a:t>poofing Classification task :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ViT (Vision Transformers) 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700">
                <a:solidFill>
                  <a:schemeClr val="dk2"/>
                </a:solidFill>
              </a:rPr>
              <a:t>(</a:t>
            </a:r>
            <a:r>
              <a:rPr i="1" lang="en" sz="700">
                <a:solidFill>
                  <a:schemeClr val="dk2"/>
                </a:solidFill>
              </a:rPr>
              <a:t>ability to capture </a:t>
            </a:r>
            <a:r>
              <a:rPr i="1" lang="en" sz="700">
                <a:solidFill>
                  <a:schemeClr val="dk2"/>
                </a:solidFill>
              </a:rPr>
              <a:t>long range</a:t>
            </a:r>
            <a:r>
              <a:rPr i="1" lang="en" sz="700">
                <a:solidFill>
                  <a:schemeClr val="dk2"/>
                </a:solidFill>
              </a:rPr>
              <a:t> dependencies among image patches)</a:t>
            </a:r>
            <a:br>
              <a:rPr i="1" lang="en" sz="700">
                <a:solidFill>
                  <a:schemeClr val="dk2"/>
                </a:solidFill>
              </a:rPr>
            </a:br>
            <a:endParaRPr i="1" sz="7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●"/>
            </a:pPr>
            <a:r>
              <a:rPr lang="en" sz="1200">
                <a:solidFill>
                  <a:srgbClr val="D9D9D9"/>
                </a:solidFill>
              </a:rPr>
              <a:t>CNN </a:t>
            </a:r>
            <a:r>
              <a:rPr lang="en" sz="1200">
                <a:solidFill>
                  <a:srgbClr val="D9D9D9"/>
                </a:solidFill>
              </a:rPr>
              <a:t>(Convolutional Neural Networks)</a:t>
            </a:r>
            <a:br>
              <a:rPr lang="en" sz="1200">
                <a:solidFill>
                  <a:srgbClr val="D9D9D9"/>
                </a:solidFill>
              </a:rPr>
            </a:br>
            <a:endParaRPr sz="1200">
              <a:solidFill>
                <a:srgbClr val="D9D9D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●"/>
            </a:pPr>
            <a:r>
              <a:rPr lang="en" sz="1200">
                <a:solidFill>
                  <a:srgbClr val="D9D9D9"/>
                </a:solidFill>
              </a:rPr>
              <a:t>Hybrid (CNN + ViT)</a:t>
            </a:r>
            <a:endParaRPr sz="12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19" name="Google Shape;219;p24"/>
          <p:cNvSpPr txBox="1"/>
          <p:nvPr>
            <p:ph type="ctrTitle"/>
          </p:nvPr>
        </p:nvSpPr>
        <p:spPr>
          <a:xfrm>
            <a:off x="311700" y="211725"/>
            <a:ext cx="8520600" cy="4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80">
                <a:solidFill>
                  <a:srgbClr val="434343"/>
                </a:solidFill>
              </a:rPr>
              <a:t>FLIP :</a:t>
            </a:r>
            <a:r>
              <a:rPr b="1" lang="en" sz="2080">
                <a:solidFill>
                  <a:srgbClr val="D9D9D9"/>
                </a:solidFill>
              </a:rPr>
              <a:t> </a:t>
            </a:r>
            <a:r>
              <a:rPr b="1" lang="en" sz="2080">
                <a:solidFill>
                  <a:srgbClr val="434343"/>
                </a:solidFill>
              </a:rPr>
              <a:t>Cross-domain Face Anti-Spoofing with Language Guidance</a:t>
            </a:r>
            <a:endParaRPr b="1" sz="2080">
              <a:solidFill>
                <a:srgbClr val="434343"/>
              </a:solidFill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545800" y="660225"/>
            <a:ext cx="3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FF00"/>
                </a:solidFill>
              </a:rPr>
              <a:t>?</a:t>
            </a:r>
            <a:endParaRPr b="1" sz="1800">
              <a:solidFill>
                <a:srgbClr val="00FF00"/>
              </a:solidFill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351850" y="152950"/>
            <a:ext cx="701700" cy="46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351850" y="3294775"/>
            <a:ext cx="3548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Related Work </a:t>
            </a:r>
            <a:r>
              <a:rPr b="1" lang="en" sz="1200">
                <a:solidFill>
                  <a:srgbClr val="00FF00"/>
                </a:solidFill>
              </a:rPr>
              <a:t>(possible solutions)</a:t>
            </a:r>
            <a:r>
              <a:rPr b="1" lang="en" sz="1200">
                <a:solidFill>
                  <a:schemeClr val="dk2"/>
                </a:solidFill>
              </a:rPr>
              <a:t> :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lang="en" sz="1200">
                <a:solidFill>
                  <a:srgbClr val="434343"/>
                </a:solidFill>
              </a:rPr>
              <a:t>Domain Adaptation and Few-shot Learning </a:t>
            </a:r>
            <a:br>
              <a:rPr lang="en" sz="1200">
                <a:solidFill>
                  <a:srgbClr val="434343"/>
                </a:solidFill>
              </a:rPr>
            </a:br>
            <a:br>
              <a:rPr i="1" lang="en" sz="700">
                <a:solidFill>
                  <a:srgbClr val="434343"/>
                </a:solidFill>
              </a:rPr>
            </a:br>
            <a:endParaRPr i="1" sz="700">
              <a:solidFill>
                <a:srgbClr val="434343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lang="en" sz="1200">
                <a:solidFill>
                  <a:srgbClr val="434343"/>
                </a:solidFill>
              </a:rPr>
              <a:t>Domain Generalization</a:t>
            </a:r>
            <a:br>
              <a:rPr lang="en" sz="1200">
                <a:solidFill>
                  <a:srgbClr val="434343"/>
                </a:solidFill>
              </a:rPr>
            </a:br>
            <a:endParaRPr sz="1200">
              <a:solidFill>
                <a:srgbClr val="434343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lang="en" sz="1200">
                <a:solidFill>
                  <a:srgbClr val="434343"/>
                </a:solidFill>
              </a:rPr>
              <a:t>Vision Language Pre-training</a:t>
            </a:r>
            <a:endParaRPr sz="1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311700" y="2827097"/>
            <a:ext cx="37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</a:rPr>
              <a:t>Problem : How we can use ViT s on </a:t>
            </a:r>
            <a:r>
              <a:rPr lang="en" sz="1200">
                <a:solidFill>
                  <a:srgbClr val="FF0000"/>
                </a:solidFill>
              </a:rPr>
              <a:t>cross-domain?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351850" y="3277838"/>
            <a:ext cx="3505500" cy="1521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5" name="Google Shape;225;p24"/>
          <p:cNvCxnSpPr/>
          <p:nvPr/>
        </p:nvCxnSpPr>
        <p:spPr>
          <a:xfrm>
            <a:off x="1086225" y="3126625"/>
            <a:ext cx="0" cy="13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24"/>
          <p:cNvSpPr/>
          <p:nvPr/>
        </p:nvSpPr>
        <p:spPr>
          <a:xfrm>
            <a:off x="351850" y="1519224"/>
            <a:ext cx="3505500" cy="396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24"/>
          <p:cNvCxnSpPr>
            <a:stCxn id="226" idx="1"/>
            <a:endCxn id="223" idx="1"/>
          </p:cNvCxnSpPr>
          <p:nvPr/>
        </p:nvCxnSpPr>
        <p:spPr>
          <a:xfrm flipH="1">
            <a:off x="311650" y="1717374"/>
            <a:ext cx="40200" cy="1294500"/>
          </a:xfrm>
          <a:prstGeom prst="bentConnector3">
            <a:avLst>
              <a:gd fmla="val 270460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24"/>
          <p:cNvSpPr txBox="1"/>
          <p:nvPr/>
        </p:nvSpPr>
        <p:spPr>
          <a:xfrm>
            <a:off x="4473900" y="1488038"/>
            <a:ext cx="37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Possible problems :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4706850" y="1943325"/>
            <a:ext cx="376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4473900" y="1857350"/>
            <a:ext cx="4358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434343"/>
                </a:solidFill>
              </a:rPr>
              <a:t>Domain Adaptation and Few-shot Learning :</a:t>
            </a:r>
            <a:r>
              <a:rPr lang="en" sz="1200">
                <a:solidFill>
                  <a:srgbClr val="434343"/>
                </a:solidFill>
              </a:rPr>
              <a:t> we need labeled / unlabeled data to TRAIN. </a:t>
            </a:r>
            <a:br>
              <a:rPr lang="en" sz="1200">
                <a:solidFill>
                  <a:srgbClr val="434343"/>
                </a:solidFill>
              </a:rPr>
            </a:br>
            <a:endParaRPr sz="1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434343"/>
                </a:solidFill>
              </a:rPr>
              <a:t>Domain Generalization : </a:t>
            </a:r>
            <a:r>
              <a:rPr lang="en" sz="1200">
                <a:solidFill>
                  <a:srgbClr val="434343"/>
                </a:solidFill>
              </a:rPr>
              <a:t>complexity and additional </a:t>
            </a:r>
            <a:br>
              <a:rPr lang="en" sz="1200">
                <a:solidFill>
                  <a:srgbClr val="434343"/>
                </a:solidFill>
              </a:rPr>
            </a:br>
            <a:r>
              <a:rPr lang="en" sz="1200">
                <a:solidFill>
                  <a:srgbClr val="434343"/>
                </a:solidFill>
              </a:rPr>
              <a:t>information. (split style and content to TRAIN the models)</a:t>
            </a:r>
            <a:br>
              <a:rPr lang="en" sz="1200">
                <a:solidFill>
                  <a:srgbClr val="434343"/>
                </a:solidFill>
              </a:rPr>
            </a:br>
            <a:endParaRPr sz="1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434343"/>
                </a:solidFill>
              </a:rPr>
              <a:t>Vision Language Pre-training : </a:t>
            </a:r>
            <a:r>
              <a:rPr lang="en" sz="1200">
                <a:solidFill>
                  <a:srgbClr val="FF0000"/>
                </a:solidFill>
              </a:rPr>
              <a:t>? </a:t>
            </a:r>
            <a:r>
              <a:rPr lang="en" sz="1200">
                <a:solidFill>
                  <a:srgbClr val="434343"/>
                </a:solidFill>
              </a:rPr>
              <a:t>In order to find out CLIP (OpenAI) based FLIP (</a:t>
            </a:r>
            <a:r>
              <a:rPr b="1" lang="en" sz="1200">
                <a:solidFill>
                  <a:srgbClr val="434343"/>
                </a:solidFill>
              </a:rPr>
              <a:t>F</a:t>
            </a:r>
            <a:r>
              <a:rPr lang="en" sz="1200">
                <a:solidFill>
                  <a:srgbClr val="434343"/>
                </a:solidFill>
              </a:rPr>
              <a:t>ace Anti-Spoofing </a:t>
            </a:r>
            <a:r>
              <a:rPr b="1" lang="en" sz="1200">
                <a:solidFill>
                  <a:srgbClr val="434343"/>
                </a:solidFill>
              </a:rPr>
              <a:t>L</a:t>
            </a:r>
            <a:r>
              <a:rPr lang="en" sz="1200">
                <a:solidFill>
                  <a:srgbClr val="434343"/>
                </a:solidFill>
              </a:rPr>
              <a:t>anguage-</a:t>
            </a:r>
            <a:r>
              <a:rPr b="1" lang="en" sz="1200">
                <a:solidFill>
                  <a:srgbClr val="434343"/>
                </a:solidFill>
              </a:rPr>
              <a:t>I</a:t>
            </a:r>
            <a:r>
              <a:rPr lang="en" sz="1200">
                <a:solidFill>
                  <a:srgbClr val="434343"/>
                </a:solidFill>
              </a:rPr>
              <a:t>mage </a:t>
            </a:r>
            <a:r>
              <a:rPr b="1" lang="en" sz="1200">
                <a:solidFill>
                  <a:srgbClr val="434343"/>
                </a:solidFill>
              </a:rPr>
              <a:t>P</a:t>
            </a:r>
            <a:r>
              <a:rPr lang="en" sz="1200">
                <a:solidFill>
                  <a:srgbClr val="434343"/>
                </a:solidFill>
              </a:rPr>
              <a:t>retraining) for cross-domain framework promised with 3 strategies : FLIP-V, FLIP-IT and FLIP-MCL.</a:t>
            </a:r>
            <a:br>
              <a:rPr lang="en" sz="1200">
                <a:solidFill>
                  <a:srgbClr val="434343"/>
                </a:solidFill>
              </a:rPr>
            </a:br>
            <a:endParaRPr sz="1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i="1" lang="en" sz="1200">
                <a:solidFill>
                  <a:srgbClr val="434343"/>
                </a:solidFill>
              </a:rPr>
            </a:br>
            <a:endParaRPr i="1" sz="1800">
              <a:solidFill>
                <a:schemeClr val="dk2"/>
              </a:solidFill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4254625" y="1790738"/>
            <a:ext cx="4465500" cy="2442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" name="Google Shape;232;p24"/>
          <p:cNvCxnSpPr>
            <a:stCxn id="224" idx="3"/>
            <a:endCxn id="231" idx="1"/>
          </p:cNvCxnSpPr>
          <p:nvPr/>
        </p:nvCxnSpPr>
        <p:spPr>
          <a:xfrm flipH="1" rot="10800000">
            <a:off x="3857350" y="3011888"/>
            <a:ext cx="397200" cy="1026900"/>
          </a:xfrm>
          <a:prstGeom prst="bentConnector3">
            <a:avLst>
              <a:gd fmla="val 50009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5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pic>
        <p:nvPicPr>
          <p:cNvPr id="239" name="Google Shape;239;p25"/>
          <p:cNvPicPr preferRelativeResize="0"/>
          <p:nvPr/>
        </p:nvPicPr>
        <p:blipFill rotWithShape="1">
          <a:blip r:embed="rId3">
            <a:alphaModFix/>
          </a:blip>
          <a:srcRect b="0" l="0" r="50233" t="7373"/>
          <a:stretch/>
        </p:blipFill>
        <p:spPr>
          <a:xfrm>
            <a:off x="1005413" y="1558075"/>
            <a:ext cx="2536474" cy="15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 txBox="1"/>
          <p:nvPr/>
        </p:nvSpPr>
        <p:spPr>
          <a:xfrm>
            <a:off x="556825" y="832625"/>
            <a:ext cx="6600" cy="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365300" y="1002550"/>
            <a:ext cx="37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CLIP (Contrastive Language-Image Pre-Training)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42" name="Google Shape;242;p25"/>
          <p:cNvSpPr txBox="1"/>
          <p:nvPr/>
        </p:nvSpPr>
        <p:spPr>
          <a:xfrm>
            <a:off x="1432625" y="2944700"/>
            <a:ext cx="89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I ∈ R ** H×W×3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1759425" y="2083922"/>
            <a:ext cx="34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rgbClr val="434343"/>
                </a:solidFill>
              </a:rPr>
              <a:t>t</a:t>
            </a:r>
            <a:endParaRPr i="1" sz="700">
              <a:solidFill>
                <a:srgbClr val="434343"/>
              </a:solidFill>
            </a:endParaRPr>
          </a:p>
        </p:txBody>
      </p:sp>
      <p:pic>
        <p:nvPicPr>
          <p:cNvPr id="244" name="Google Shape;24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1250" y="1180675"/>
            <a:ext cx="3990574" cy="20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5"/>
          <p:cNvPicPr preferRelativeResize="0"/>
          <p:nvPr/>
        </p:nvPicPr>
        <p:blipFill rotWithShape="1">
          <a:blip r:embed="rId4">
            <a:alphaModFix/>
          </a:blip>
          <a:srcRect b="11996" l="2732" r="91324" t="76079"/>
          <a:stretch/>
        </p:blipFill>
        <p:spPr>
          <a:xfrm>
            <a:off x="1125450" y="2513350"/>
            <a:ext cx="237174" cy="24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5"/>
          <p:cNvPicPr preferRelativeResize="0"/>
          <p:nvPr/>
        </p:nvPicPr>
        <p:blipFill rotWithShape="1">
          <a:blip r:embed="rId4">
            <a:alphaModFix/>
          </a:blip>
          <a:srcRect b="11101" l="28282" r="61072" t="80207"/>
          <a:stretch/>
        </p:blipFill>
        <p:spPr>
          <a:xfrm>
            <a:off x="1060075" y="1780300"/>
            <a:ext cx="396349" cy="16464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/>
          <p:nvPr>
            <p:ph type="ctrTitle"/>
          </p:nvPr>
        </p:nvSpPr>
        <p:spPr>
          <a:xfrm>
            <a:off x="311700" y="211725"/>
            <a:ext cx="8520600" cy="4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80">
                <a:solidFill>
                  <a:srgbClr val="434343"/>
                </a:solidFill>
              </a:rPr>
              <a:t>FLIP :</a:t>
            </a:r>
            <a:r>
              <a:rPr b="1" lang="en" sz="2080">
                <a:solidFill>
                  <a:srgbClr val="D9D9D9"/>
                </a:solidFill>
              </a:rPr>
              <a:t> </a:t>
            </a:r>
            <a:r>
              <a:rPr b="1" lang="en" sz="2080">
                <a:solidFill>
                  <a:srgbClr val="434343"/>
                </a:solidFill>
              </a:rPr>
              <a:t>Cross-domain Face Anti-Spoofing with Language Guidance</a:t>
            </a:r>
            <a:endParaRPr b="1" sz="2080">
              <a:solidFill>
                <a:srgbClr val="434343"/>
              </a:solidFill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351850" y="152950"/>
            <a:ext cx="701700" cy="468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365300" y="832625"/>
            <a:ext cx="8293800" cy="326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0" name="Google Shape;250;p25"/>
          <p:cNvCxnSpPr>
            <a:stCxn id="249" idx="0"/>
            <a:endCxn id="248" idx="2"/>
          </p:cNvCxnSpPr>
          <p:nvPr/>
        </p:nvCxnSpPr>
        <p:spPr>
          <a:xfrm flipH="1" rot="5400000">
            <a:off x="2501600" y="-1177975"/>
            <a:ext cx="211800" cy="3809400"/>
          </a:xfrm>
          <a:prstGeom prst="bentConnector3">
            <a:avLst>
              <a:gd fmla="val 49970" name="adj1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6"/>
          <p:cNvSpPr txBox="1"/>
          <p:nvPr>
            <p:ph type="ctrTitle"/>
          </p:nvPr>
        </p:nvSpPr>
        <p:spPr>
          <a:xfrm>
            <a:off x="311700" y="1584225"/>
            <a:ext cx="8520600" cy="6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434343"/>
                </a:solidFill>
              </a:rPr>
              <a:t>3.    </a:t>
            </a:r>
            <a:r>
              <a:rPr b="1" lang="en" sz="1650">
                <a:solidFill>
                  <a:srgbClr val="434343"/>
                </a:solidFill>
              </a:rPr>
              <a:t>What is </a:t>
            </a:r>
            <a:r>
              <a:rPr b="1" lang="en" sz="1650">
                <a:solidFill>
                  <a:srgbClr val="434343"/>
                </a:solidFill>
              </a:rPr>
              <a:t>FLIP_V </a:t>
            </a:r>
            <a:r>
              <a:rPr b="1" lang="en" sz="1650">
                <a:solidFill>
                  <a:srgbClr val="434343"/>
                </a:solidFill>
              </a:rPr>
              <a:t>(FLIP-Vision) </a:t>
            </a:r>
            <a:r>
              <a:rPr b="1" lang="en" sz="1650">
                <a:solidFill>
                  <a:srgbClr val="434343"/>
                </a:solidFill>
              </a:rPr>
              <a:t>strategy </a:t>
            </a:r>
            <a:r>
              <a:rPr b="1" lang="en" sz="1650">
                <a:solidFill>
                  <a:srgbClr val="434343"/>
                </a:solidFill>
              </a:rPr>
              <a:t>? </a:t>
            </a:r>
            <a:endParaRPr b="1" sz="1650">
              <a:solidFill>
                <a:srgbClr val="434343"/>
              </a:solidFill>
            </a:endParaRPr>
          </a:p>
        </p:txBody>
      </p:sp>
      <p:sp>
        <p:nvSpPr>
          <p:cNvPr id="257" name="Google Shape;257;p26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pic>
        <p:nvPicPr>
          <p:cNvPr id="258" name="Google Shape;2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9713" y="2448575"/>
            <a:ext cx="3990574" cy="20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/>
          <p:nvPr/>
        </p:nvSpPr>
        <p:spPr>
          <a:xfrm>
            <a:off x="3177575" y="2368500"/>
            <a:ext cx="3489900" cy="2235300"/>
          </a:xfrm>
          <a:prstGeom prst="rect">
            <a:avLst/>
          </a:prstGeom>
          <a:solidFill>
            <a:srgbClr val="DBDFE4">
              <a:alpha val="943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7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3">
            <a:alphaModFix/>
          </a:blip>
          <a:srcRect b="0" l="0" r="88784" t="0"/>
          <a:stretch/>
        </p:blipFill>
        <p:spPr>
          <a:xfrm>
            <a:off x="207289" y="1301250"/>
            <a:ext cx="447549" cy="20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4145" y="1569475"/>
            <a:ext cx="2525826" cy="156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5825" y="101850"/>
            <a:ext cx="2438275" cy="109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5825" y="1462880"/>
            <a:ext cx="2438275" cy="136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05825" y="2931950"/>
            <a:ext cx="2438275" cy="141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7"/>
          <p:cNvSpPr/>
          <p:nvPr/>
        </p:nvSpPr>
        <p:spPr>
          <a:xfrm>
            <a:off x="1844400" y="2075600"/>
            <a:ext cx="1071900" cy="12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7"/>
          <p:cNvSpPr/>
          <p:nvPr/>
        </p:nvSpPr>
        <p:spPr>
          <a:xfrm>
            <a:off x="1844400" y="2201600"/>
            <a:ext cx="830100" cy="83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7"/>
          <p:cNvSpPr/>
          <p:nvPr/>
        </p:nvSpPr>
        <p:spPr>
          <a:xfrm>
            <a:off x="1913925" y="2287750"/>
            <a:ext cx="590700" cy="12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4" name="Google Shape;274;p27"/>
          <p:cNvCxnSpPr>
            <a:stCxn id="271" idx="3"/>
            <a:endCxn id="268" idx="1"/>
          </p:cNvCxnSpPr>
          <p:nvPr/>
        </p:nvCxnSpPr>
        <p:spPr>
          <a:xfrm flipH="1" rot="10800000">
            <a:off x="2916300" y="649100"/>
            <a:ext cx="1489500" cy="14895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7"/>
          <p:cNvCxnSpPr>
            <a:stCxn id="272" idx="3"/>
          </p:cNvCxnSpPr>
          <p:nvPr/>
        </p:nvCxnSpPr>
        <p:spPr>
          <a:xfrm flipH="1" rot="10800000">
            <a:off x="2674500" y="2232350"/>
            <a:ext cx="1725300" cy="1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7"/>
          <p:cNvCxnSpPr>
            <a:stCxn id="273" idx="3"/>
            <a:endCxn id="270" idx="1"/>
          </p:cNvCxnSpPr>
          <p:nvPr/>
        </p:nvCxnSpPr>
        <p:spPr>
          <a:xfrm>
            <a:off x="2504625" y="2350750"/>
            <a:ext cx="1901100" cy="1287000"/>
          </a:xfrm>
          <a:prstGeom prst="bentConnector3">
            <a:avLst>
              <a:gd fmla="val 50003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7" name="Google Shape;277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94549" y="1576500"/>
            <a:ext cx="2039155" cy="97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/>
          <p:nvPr/>
        </p:nvSpPr>
        <p:spPr>
          <a:xfrm>
            <a:off x="1441275" y="2931950"/>
            <a:ext cx="1071900" cy="12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9" name="Google Shape;279;p27"/>
          <p:cNvCxnSpPr>
            <a:stCxn id="278" idx="2"/>
          </p:cNvCxnSpPr>
          <p:nvPr/>
        </p:nvCxnSpPr>
        <p:spPr>
          <a:xfrm flipH="1" rot="-5400000">
            <a:off x="4310325" y="724850"/>
            <a:ext cx="1494600" cy="6160800"/>
          </a:xfrm>
          <a:prstGeom prst="bentConnector2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7"/>
          <p:cNvCxnSpPr/>
          <p:nvPr/>
        </p:nvCxnSpPr>
        <p:spPr>
          <a:xfrm rot="10800000">
            <a:off x="8111875" y="2676975"/>
            <a:ext cx="13200" cy="18756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" name="Google Shape;281;p27"/>
          <p:cNvCxnSpPr>
            <a:stCxn id="266" idx="3"/>
            <a:endCxn id="267" idx="1"/>
          </p:cNvCxnSpPr>
          <p:nvPr/>
        </p:nvCxnSpPr>
        <p:spPr>
          <a:xfrm>
            <a:off x="654838" y="2350750"/>
            <a:ext cx="3093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2" name="Google Shape;282;p27"/>
          <p:cNvSpPr/>
          <p:nvPr/>
        </p:nvSpPr>
        <p:spPr>
          <a:xfrm>
            <a:off x="6994550" y="1646525"/>
            <a:ext cx="1143600" cy="12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27"/>
          <p:cNvPicPr preferRelativeResize="0"/>
          <p:nvPr/>
        </p:nvPicPr>
        <p:blipFill rotWithShape="1">
          <a:blip r:embed="rId9">
            <a:alphaModFix/>
          </a:blip>
          <a:srcRect b="0" l="0" r="50233" t="0"/>
          <a:stretch/>
        </p:blipFill>
        <p:spPr>
          <a:xfrm>
            <a:off x="85775" y="3688474"/>
            <a:ext cx="1828152" cy="103281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/>
          <p:nvPr/>
        </p:nvSpPr>
        <p:spPr>
          <a:xfrm>
            <a:off x="536425" y="4238600"/>
            <a:ext cx="392400" cy="4419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5" name="Google Shape;285;p27"/>
          <p:cNvCxnSpPr>
            <a:stCxn id="284" idx="0"/>
          </p:cNvCxnSpPr>
          <p:nvPr/>
        </p:nvCxnSpPr>
        <p:spPr>
          <a:xfrm rot="10800000">
            <a:off x="503425" y="2824400"/>
            <a:ext cx="229200" cy="14142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6" name="Google Shape;286;p27"/>
          <p:cNvSpPr/>
          <p:nvPr/>
        </p:nvSpPr>
        <p:spPr>
          <a:xfrm>
            <a:off x="5060725" y="586175"/>
            <a:ext cx="779400" cy="12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7" name="Google Shape;287;p27"/>
          <p:cNvCxnSpPr/>
          <p:nvPr/>
        </p:nvCxnSpPr>
        <p:spPr>
          <a:xfrm flipH="1" rot="10800000">
            <a:off x="5840125" y="630875"/>
            <a:ext cx="1281600" cy="18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" name="Google Shape;288;p27"/>
          <p:cNvSpPr txBox="1"/>
          <p:nvPr/>
        </p:nvSpPr>
        <p:spPr>
          <a:xfrm>
            <a:off x="7174575" y="455375"/>
            <a:ext cx="167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Image Encoder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2916300" y="4552550"/>
            <a:ext cx="62364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optimizer1</a:t>
            </a:r>
            <a:r>
              <a:rPr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optim</a:t>
            </a:r>
            <a:r>
              <a:rPr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Adam</a:t>
            </a:r>
            <a:r>
              <a:rPr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optimizer_dict</a:t>
            </a:r>
            <a:r>
              <a:rPr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lr</a:t>
            </a:r>
            <a:r>
              <a:rPr lang="en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9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0.0001</a:t>
            </a:r>
            <a:r>
              <a:rPr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weight_decay</a:t>
            </a:r>
            <a:r>
              <a:rPr lang="en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9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0.000001</a:t>
            </a:r>
            <a:r>
              <a:rPr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9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LR = 1e-4</a:t>
            </a:r>
            <a:endParaRPr sz="9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8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sp>
        <p:nvSpPr>
          <p:cNvPr id="296" name="Google Shape;296;p28"/>
          <p:cNvSpPr txBox="1"/>
          <p:nvPr>
            <p:ph type="ctrTitle"/>
          </p:nvPr>
        </p:nvSpPr>
        <p:spPr>
          <a:xfrm>
            <a:off x="311700" y="1584225"/>
            <a:ext cx="8520600" cy="6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434343"/>
                </a:solidFill>
              </a:rPr>
              <a:t>4.    </a:t>
            </a:r>
            <a:r>
              <a:rPr b="1" lang="en" sz="1650">
                <a:solidFill>
                  <a:srgbClr val="434343"/>
                </a:solidFill>
              </a:rPr>
              <a:t>What is </a:t>
            </a:r>
            <a:r>
              <a:rPr b="1" lang="en" sz="1650">
                <a:solidFill>
                  <a:srgbClr val="434343"/>
                </a:solidFill>
              </a:rPr>
              <a:t>FLIP_IT </a:t>
            </a:r>
            <a:r>
              <a:rPr b="1" lang="en" sz="1650">
                <a:solidFill>
                  <a:srgbClr val="434343"/>
                </a:solidFill>
              </a:rPr>
              <a:t>(FLIP-Image-Text </a:t>
            </a:r>
            <a:r>
              <a:rPr b="1" lang="en" sz="1650">
                <a:solidFill>
                  <a:srgbClr val="434343"/>
                </a:solidFill>
              </a:rPr>
              <a:t>Similarity</a:t>
            </a:r>
            <a:r>
              <a:rPr b="1" lang="en" sz="1650">
                <a:solidFill>
                  <a:srgbClr val="434343"/>
                </a:solidFill>
              </a:rPr>
              <a:t>) </a:t>
            </a:r>
            <a:r>
              <a:rPr b="1" lang="en" sz="1650">
                <a:solidFill>
                  <a:srgbClr val="434343"/>
                </a:solidFill>
              </a:rPr>
              <a:t>strategy </a:t>
            </a:r>
            <a:r>
              <a:rPr b="1" lang="en" sz="1650">
                <a:solidFill>
                  <a:srgbClr val="434343"/>
                </a:solidFill>
              </a:rPr>
              <a:t>? </a:t>
            </a:r>
            <a:endParaRPr b="1" sz="1650">
              <a:solidFill>
                <a:srgbClr val="434343"/>
              </a:solidFill>
            </a:endParaRPr>
          </a:p>
        </p:txBody>
      </p:sp>
      <p:pic>
        <p:nvPicPr>
          <p:cNvPr id="297" name="Google Shape;29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9713" y="2448575"/>
            <a:ext cx="3990574" cy="20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8"/>
          <p:cNvSpPr/>
          <p:nvPr/>
        </p:nvSpPr>
        <p:spPr>
          <a:xfrm>
            <a:off x="2550175" y="2368500"/>
            <a:ext cx="444300" cy="2001000"/>
          </a:xfrm>
          <a:prstGeom prst="rect">
            <a:avLst/>
          </a:prstGeom>
          <a:solidFill>
            <a:srgbClr val="DBDFE4">
              <a:alpha val="943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8"/>
          <p:cNvSpPr/>
          <p:nvPr/>
        </p:nvSpPr>
        <p:spPr>
          <a:xfrm>
            <a:off x="4264575" y="2380425"/>
            <a:ext cx="2403000" cy="2001000"/>
          </a:xfrm>
          <a:prstGeom prst="rect">
            <a:avLst/>
          </a:prstGeom>
          <a:solidFill>
            <a:srgbClr val="DBDFE4">
              <a:alpha val="943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9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pic>
        <p:nvPicPr>
          <p:cNvPr id="306" name="Google Shape;306;p29"/>
          <p:cNvPicPr preferRelativeResize="0"/>
          <p:nvPr/>
        </p:nvPicPr>
        <p:blipFill rotWithShape="1">
          <a:blip r:embed="rId3">
            <a:alphaModFix/>
          </a:blip>
          <a:srcRect b="0" l="11541" r="58977" t="0"/>
          <a:stretch/>
        </p:blipFill>
        <p:spPr>
          <a:xfrm>
            <a:off x="184274" y="1522250"/>
            <a:ext cx="1176428" cy="20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6100" y="493120"/>
            <a:ext cx="3013699" cy="3899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5425" y="493125"/>
            <a:ext cx="2024825" cy="15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2773021" y="1766450"/>
            <a:ext cx="587700" cy="83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/>
          <p:nvPr/>
        </p:nvSpPr>
        <p:spPr>
          <a:xfrm>
            <a:off x="2741800" y="1849550"/>
            <a:ext cx="553500" cy="83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1" name="Google Shape;311;p29"/>
          <p:cNvCxnSpPr>
            <a:stCxn id="309" idx="3"/>
          </p:cNvCxnSpPr>
          <p:nvPr/>
        </p:nvCxnSpPr>
        <p:spPr>
          <a:xfrm flipH="1" rot="10800000">
            <a:off x="3360721" y="577700"/>
            <a:ext cx="1659900" cy="1230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29"/>
          <p:cNvCxnSpPr>
            <a:stCxn id="310" idx="3"/>
          </p:cNvCxnSpPr>
          <p:nvPr/>
        </p:nvCxnSpPr>
        <p:spPr>
          <a:xfrm flipH="1" rot="10800000">
            <a:off x="3295300" y="1381700"/>
            <a:ext cx="1705800" cy="509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3" name="Google Shape;313;p29"/>
          <p:cNvSpPr/>
          <p:nvPr/>
        </p:nvSpPr>
        <p:spPr>
          <a:xfrm>
            <a:off x="5020625" y="493125"/>
            <a:ext cx="633900" cy="83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9"/>
          <p:cNvSpPr/>
          <p:nvPr/>
        </p:nvSpPr>
        <p:spPr>
          <a:xfrm>
            <a:off x="5020625" y="1298600"/>
            <a:ext cx="653400" cy="83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5" name="Google Shape;31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01099" y="2732100"/>
            <a:ext cx="2039155" cy="975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29"/>
          <p:cNvCxnSpPr/>
          <p:nvPr/>
        </p:nvCxnSpPr>
        <p:spPr>
          <a:xfrm>
            <a:off x="1373738" y="2571750"/>
            <a:ext cx="309300" cy="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29"/>
          <p:cNvSpPr/>
          <p:nvPr/>
        </p:nvSpPr>
        <p:spPr>
          <a:xfrm>
            <a:off x="1774550" y="3621250"/>
            <a:ext cx="926100" cy="83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8" name="Google Shape;318;p29"/>
          <p:cNvCxnSpPr>
            <a:stCxn id="317" idx="1"/>
          </p:cNvCxnSpPr>
          <p:nvPr/>
        </p:nvCxnSpPr>
        <p:spPr>
          <a:xfrm>
            <a:off x="1774550" y="3662800"/>
            <a:ext cx="4396500" cy="1058400"/>
          </a:xfrm>
          <a:prstGeom prst="bentConnector3">
            <a:avLst>
              <a:gd fmla="val -5416" name="adj1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9"/>
          <p:cNvCxnSpPr/>
          <p:nvPr/>
        </p:nvCxnSpPr>
        <p:spPr>
          <a:xfrm rot="10800000">
            <a:off x="6138075" y="3793400"/>
            <a:ext cx="13200" cy="9279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0" name="Google Shape;320;p29"/>
          <p:cNvSpPr/>
          <p:nvPr/>
        </p:nvSpPr>
        <p:spPr>
          <a:xfrm>
            <a:off x="5001100" y="2795575"/>
            <a:ext cx="1143600" cy="12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2909625" y="4663050"/>
            <a:ext cx="62364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optimizer1</a:t>
            </a:r>
            <a:r>
              <a:rPr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9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optim</a:t>
            </a:r>
            <a:r>
              <a:rPr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9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Adam</a:t>
            </a:r>
            <a:r>
              <a:rPr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optimizer_dict</a:t>
            </a:r>
            <a:r>
              <a:rPr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lr</a:t>
            </a:r>
            <a:r>
              <a:rPr lang="en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9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0.0001</a:t>
            </a:r>
            <a:r>
              <a:rPr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9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weight_decay</a:t>
            </a:r>
            <a:r>
              <a:rPr lang="en" sz="90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9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0.000001</a:t>
            </a:r>
            <a:r>
              <a:rPr lang="en" sz="9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90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LR = 1e-4</a:t>
            </a:r>
            <a:endParaRPr sz="90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0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sp>
        <p:nvSpPr>
          <p:cNvPr id="328" name="Google Shape;328;p30"/>
          <p:cNvSpPr txBox="1"/>
          <p:nvPr>
            <p:ph type="ctrTitle"/>
          </p:nvPr>
        </p:nvSpPr>
        <p:spPr>
          <a:xfrm>
            <a:off x="311700" y="1584225"/>
            <a:ext cx="8520600" cy="6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434343"/>
                </a:solidFill>
              </a:rPr>
              <a:t>5</a:t>
            </a:r>
            <a:r>
              <a:rPr b="1" lang="en" sz="1650">
                <a:solidFill>
                  <a:srgbClr val="434343"/>
                </a:solidFill>
              </a:rPr>
              <a:t>.    What is </a:t>
            </a:r>
            <a:r>
              <a:rPr b="1" lang="en" sz="1650">
                <a:solidFill>
                  <a:srgbClr val="434343"/>
                </a:solidFill>
              </a:rPr>
              <a:t>FLIP_MCL </a:t>
            </a:r>
            <a:r>
              <a:rPr b="1" lang="en" sz="1650">
                <a:solidFill>
                  <a:srgbClr val="434343"/>
                </a:solidFill>
              </a:rPr>
              <a:t>(FLIP-Multimodal-</a:t>
            </a:r>
            <a:r>
              <a:rPr b="1" lang="en" sz="1650">
                <a:solidFill>
                  <a:srgbClr val="434343"/>
                </a:solidFill>
              </a:rPr>
              <a:t>Contrastive</a:t>
            </a:r>
            <a:r>
              <a:rPr b="1" lang="en" sz="1650">
                <a:solidFill>
                  <a:srgbClr val="434343"/>
                </a:solidFill>
              </a:rPr>
              <a:t>-</a:t>
            </a:r>
            <a:r>
              <a:rPr b="1" lang="en" sz="1650">
                <a:solidFill>
                  <a:srgbClr val="434343"/>
                </a:solidFill>
              </a:rPr>
              <a:t>Learning</a:t>
            </a:r>
            <a:r>
              <a:rPr b="1" lang="en" sz="1650">
                <a:solidFill>
                  <a:srgbClr val="434343"/>
                </a:solidFill>
              </a:rPr>
              <a:t>) strategy ? </a:t>
            </a:r>
            <a:endParaRPr b="1" sz="1650">
              <a:solidFill>
                <a:srgbClr val="434343"/>
              </a:solidFill>
            </a:endParaRPr>
          </a:p>
        </p:txBody>
      </p:sp>
      <p:pic>
        <p:nvPicPr>
          <p:cNvPr id="329" name="Google Shape;32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9713" y="2448575"/>
            <a:ext cx="3990574" cy="20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0"/>
          <p:cNvSpPr/>
          <p:nvPr/>
        </p:nvSpPr>
        <p:spPr>
          <a:xfrm>
            <a:off x="2550175" y="2368500"/>
            <a:ext cx="1594800" cy="2179200"/>
          </a:xfrm>
          <a:prstGeom prst="rect">
            <a:avLst/>
          </a:prstGeom>
          <a:solidFill>
            <a:srgbClr val="DBDFE4">
              <a:alpha val="943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1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pic>
        <p:nvPicPr>
          <p:cNvPr id="337" name="Google Shape;33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200" y="846425"/>
            <a:ext cx="4566225" cy="3556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1"/>
          <p:cNvSpPr/>
          <p:nvPr/>
        </p:nvSpPr>
        <p:spPr>
          <a:xfrm>
            <a:off x="2685525" y="2791125"/>
            <a:ext cx="497100" cy="497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1"/>
          <p:cNvSpPr/>
          <p:nvPr/>
        </p:nvSpPr>
        <p:spPr>
          <a:xfrm>
            <a:off x="3920775" y="3578875"/>
            <a:ext cx="497100" cy="497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0" name="Google Shape;340;p31"/>
          <p:cNvCxnSpPr/>
          <p:nvPr/>
        </p:nvCxnSpPr>
        <p:spPr>
          <a:xfrm rot="10800000">
            <a:off x="2249100" y="1150200"/>
            <a:ext cx="1502700" cy="2487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1" name="Google Shape;341;p31"/>
          <p:cNvSpPr txBox="1"/>
          <p:nvPr/>
        </p:nvSpPr>
        <p:spPr>
          <a:xfrm>
            <a:off x="542100" y="934825"/>
            <a:ext cx="170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Contrastive Learning - helps to </a:t>
            </a:r>
            <a:r>
              <a:rPr lang="en" sz="1200">
                <a:solidFill>
                  <a:schemeClr val="dk2"/>
                </a:solidFill>
              </a:rPr>
              <a:t>understand</a:t>
            </a:r>
            <a:r>
              <a:rPr lang="en" sz="1200">
                <a:solidFill>
                  <a:schemeClr val="dk2"/>
                </a:solidFill>
              </a:rPr>
              <a:t> 2 real/spoof faces are same feature in feature space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342" name="Google Shape;342;p31"/>
          <p:cNvCxnSpPr/>
          <p:nvPr/>
        </p:nvCxnSpPr>
        <p:spPr>
          <a:xfrm flipH="1" rot="10800000">
            <a:off x="5569425" y="586700"/>
            <a:ext cx="751500" cy="7680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" name="Google Shape;343;p31"/>
          <p:cNvSpPr txBox="1"/>
          <p:nvPr/>
        </p:nvSpPr>
        <p:spPr>
          <a:xfrm>
            <a:off x="6320925" y="299475"/>
            <a:ext cx="2750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Mean Squared Error - minimize the error (minimize the difference between SimCLR </a:t>
            </a:r>
            <a:r>
              <a:rPr lang="en" sz="1200">
                <a:solidFill>
                  <a:schemeClr val="dk2"/>
                </a:solidFill>
              </a:rPr>
              <a:t>proceed</a:t>
            </a:r>
            <a:r>
              <a:rPr lang="en" sz="1200">
                <a:solidFill>
                  <a:schemeClr val="dk2"/>
                </a:solidFill>
              </a:rPr>
              <a:t> image features and text-based features from Text Encoder)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344" name="Google Shape;344;p31"/>
          <p:cNvCxnSpPr/>
          <p:nvPr/>
        </p:nvCxnSpPr>
        <p:spPr>
          <a:xfrm flipH="1" rot="10800000">
            <a:off x="4696525" y="2382450"/>
            <a:ext cx="1552500" cy="1269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5" name="Google Shape;345;p31"/>
          <p:cNvSpPr txBox="1"/>
          <p:nvPr/>
        </p:nvSpPr>
        <p:spPr>
          <a:xfrm>
            <a:off x="6249025" y="2140050"/>
            <a:ext cx="259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Cross-Entropy Loss - decision making 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346" name="Google Shape;346;p31"/>
          <p:cNvCxnSpPr/>
          <p:nvPr/>
        </p:nvCxnSpPr>
        <p:spPr>
          <a:xfrm flipH="1">
            <a:off x="1751975" y="1840875"/>
            <a:ext cx="2038500" cy="8730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31"/>
          <p:cNvSpPr txBox="1"/>
          <p:nvPr/>
        </p:nvSpPr>
        <p:spPr>
          <a:xfrm>
            <a:off x="227025" y="2791125"/>
            <a:ext cx="1845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Projection Head - transforms the features into </a:t>
            </a:r>
            <a:r>
              <a:rPr lang="en" sz="1200">
                <a:solidFill>
                  <a:schemeClr val="dk2"/>
                </a:solidFill>
              </a:rPr>
              <a:t>space</a:t>
            </a:r>
            <a:r>
              <a:rPr lang="en" sz="1200">
                <a:solidFill>
                  <a:schemeClr val="dk2"/>
                </a:solidFill>
              </a:rPr>
              <a:t> which SimCLR Loss can learn better. 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2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sp>
        <p:nvSpPr>
          <p:cNvPr id="354" name="Google Shape;354;p32"/>
          <p:cNvSpPr txBox="1"/>
          <p:nvPr>
            <p:ph type="ctrTitle"/>
          </p:nvPr>
        </p:nvSpPr>
        <p:spPr>
          <a:xfrm>
            <a:off x="311700" y="1584225"/>
            <a:ext cx="8520600" cy="6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434343"/>
                </a:solidFill>
              </a:rPr>
              <a:t>6</a:t>
            </a:r>
            <a:r>
              <a:rPr b="1" lang="en" sz="1650">
                <a:solidFill>
                  <a:srgbClr val="434343"/>
                </a:solidFill>
              </a:rPr>
              <a:t>.    FLIP Framework Evaluation </a:t>
            </a:r>
            <a:endParaRPr b="1" sz="165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3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pic>
        <p:nvPicPr>
          <p:cNvPr id="361" name="Google Shape;36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638" y="440101"/>
            <a:ext cx="6338726" cy="3181351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3"/>
          <p:cNvSpPr txBox="1"/>
          <p:nvPr/>
        </p:nvSpPr>
        <p:spPr>
          <a:xfrm>
            <a:off x="1091563" y="4017575"/>
            <a:ext cx="696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Extra info : I = 224 x 224 x 3, patch size = 16x16, Adam optimizer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1478350" y="3172375"/>
            <a:ext cx="6222000" cy="405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4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pic>
        <p:nvPicPr>
          <p:cNvPr id="370" name="Google Shape;37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525" y="354150"/>
            <a:ext cx="6658951" cy="165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4"/>
          <p:cNvPicPr preferRelativeResize="0"/>
          <p:nvPr/>
        </p:nvPicPr>
        <p:blipFill rotWithShape="1">
          <a:blip r:embed="rId4">
            <a:alphaModFix/>
          </a:blip>
          <a:srcRect b="49763" l="0" r="0" t="0"/>
          <a:stretch/>
        </p:blipFill>
        <p:spPr>
          <a:xfrm>
            <a:off x="1461000" y="2399425"/>
            <a:ext cx="6252000" cy="17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4"/>
          <p:cNvSpPr/>
          <p:nvPr/>
        </p:nvSpPr>
        <p:spPr>
          <a:xfrm>
            <a:off x="1461000" y="1564475"/>
            <a:ext cx="6222000" cy="405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5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5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sp>
        <p:nvSpPr>
          <p:cNvPr id="379" name="Google Shape;379;p35"/>
          <p:cNvSpPr txBox="1"/>
          <p:nvPr>
            <p:ph type="ctrTitle"/>
          </p:nvPr>
        </p:nvSpPr>
        <p:spPr>
          <a:xfrm>
            <a:off x="311700" y="1584225"/>
            <a:ext cx="8520600" cy="68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434343"/>
                </a:solidFill>
              </a:rPr>
              <a:t>7</a:t>
            </a:r>
            <a:r>
              <a:rPr b="1" lang="en" sz="1650">
                <a:solidFill>
                  <a:srgbClr val="434343"/>
                </a:solidFill>
              </a:rPr>
              <a:t>.    Conclusion and Problems</a:t>
            </a:r>
            <a:endParaRPr b="1" sz="165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6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pic>
        <p:nvPicPr>
          <p:cNvPr id="386" name="Google Shape;38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920527" cy="2071174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6"/>
          <p:cNvSpPr/>
          <p:nvPr/>
        </p:nvSpPr>
        <p:spPr>
          <a:xfrm>
            <a:off x="2589400" y="1185550"/>
            <a:ext cx="2359500" cy="477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6"/>
          <p:cNvSpPr txBox="1"/>
          <p:nvPr/>
        </p:nvSpPr>
        <p:spPr>
          <a:xfrm>
            <a:off x="6118700" y="357749"/>
            <a:ext cx="2463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Problems with : </a:t>
            </a: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Pixelation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Extreme pose changing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Darker lighting conditions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High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chemeClr val="dk2"/>
                </a:solidFill>
              </a:rPr>
              <a:t>quality</a:t>
            </a:r>
            <a:r>
              <a:rPr lang="en" sz="1200">
                <a:solidFill>
                  <a:schemeClr val="dk2"/>
                </a:solidFill>
              </a:rPr>
              <a:t> (spoof)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Model latacity 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89" name="Google Shape;389;p36"/>
          <p:cNvSpPr/>
          <p:nvPr/>
        </p:nvSpPr>
        <p:spPr>
          <a:xfrm>
            <a:off x="5968375" y="319050"/>
            <a:ext cx="2535600" cy="1554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0" name="Google Shape;390;p36"/>
          <p:cNvPicPr preferRelativeResize="0"/>
          <p:nvPr/>
        </p:nvPicPr>
        <p:blipFill rotWithShape="1">
          <a:blip r:embed="rId4">
            <a:alphaModFix/>
          </a:blip>
          <a:srcRect b="0" l="0" r="0" t="49423"/>
          <a:stretch/>
        </p:blipFill>
        <p:spPr>
          <a:xfrm>
            <a:off x="2153675" y="2651625"/>
            <a:ext cx="6677199" cy="20711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1" name="Google Shape;391;p36"/>
          <p:cNvCxnSpPr>
            <a:stCxn id="387" idx="3"/>
          </p:cNvCxnSpPr>
          <p:nvPr/>
        </p:nvCxnSpPr>
        <p:spPr>
          <a:xfrm flipH="1" rot="10800000">
            <a:off x="4948900" y="1414300"/>
            <a:ext cx="1026000" cy="99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2" name="Google Shape;392;p36"/>
          <p:cNvCxnSpPr>
            <a:stCxn id="389" idx="2"/>
          </p:cNvCxnSpPr>
          <p:nvPr/>
        </p:nvCxnSpPr>
        <p:spPr>
          <a:xfrm>
            <a:off x="7236175" y="1873950"/>
            <a:ext cx="13200" cy="8082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7"/>
          <p:cNvSpPr txBox="1"/>
          <p:nvPr>
            <p:ph type="ctrTitle"/>
          </p:nvPr>
        </p:nvSpPr>
        <p:spPr>
          <a:xfrm>
            <a:off x="83800" y="352750"/>
            <a:ext cx="8520600" cy="10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THANK YOU </a:t>
            </a:r>
            <a:endParaRPr b="1" sz="4500"/>
          </a:p>
        </p:txBody>
      </p:sp>
      <p:sp>
        <p:nvSpPr>
          <p:cNvPr id="398" name="Google Shape;398;p37"/>
          <p:cNvSpPr txBox="1"/>
          <p:nvPr>
            <p:ph idx="1" type="subTitle"/>
          </p:nvPr>
        </p:nvSpPr>
        <p:spPr>
          <a:xfrm>
            <a:off x="2395800" y="4316100"/>
            <a:ext cx="43584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Contact :</a:t>
            </a:r>
            <a:r>
              <a:rPr lang="en" sz="1200"/>
              <a:t>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uacoding01@gmail.com</a:t>
            </a:r>
            <a:r>
              <a:rPr lang="en" sz="1200"/>
              <a:t> / suger01@korea-id.co.kr</a:t>
            </a:r>
            <a:endParaRPr sz="1200"/>
          </a:p>
        </p:txBody>
      </p:sp>
      <p:sp>
        <p:nvSpPr>
          <p:cNvPr id="399" name="Google Shape;399;p37"/>
          <p:cNvSpPr/>
          <p:nvPr/>
        </p:nvSpPr>
        <p:spPr>
          <a:xfrm>
            <a:off x="0" y="4901550"/>
            <a:ext cx="9150000" cy="24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7"/>
          <p:cNvSpPr txBox="1"/>
          <p:nvPr>
            <p:ph idx="1" type="subTitle"/>
          </p:nvPr>
        </p:nvSpPr>
        <p:spPr>
          <a:xfrm>
            <a:off x="5504275" y="4876875"/>
            <a:ext cx="3639900" cy="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FEFEF"/>
                </a:solidFill>
              </a:rPr>
              <a:t>URINOV AZIZBEK (</a:t>
            </a:r>
            <a:r>
              <a:rPr lang="en" sz="1000">
                <a:solidFill>
                  <a:srgbClr val="EFEFEF"/>
                </a:solidFill>
              </a:rPr>
              <a:t>연구원</a:t>
            </a:r>
            <a:r>
              <a:rPr b="1" lang="en" sz="1000">
                <a:solidFill>
                  <a:srgbClr val="EFEFEF"/>
                </a:solidFill>
              </a:rPr>
              <a:t>), 2025.02.07, KII-FAS SEMINAR</a:t>
            </a:r>
            <a:endParaRPr b="1" sz="1000">
              <a:solidFill>
                <a:srgbClr val="EFEFEF"/>
              </a:solidFill>
            </a:endParaRPr>
          </a:p>
        </p:txBody>
      </p:sp>
      <p:sp>
        <p:nvSpPr>
          <p:cNvPr id="401" name="Google Shape;401;p37"/>
          <p:cNvSpPr txBox="1"/>
          <p:nvPr/>
        </p:nvSpPr>
        <p:spPr>
          <a:xfrm>
            <a:off x="2428350" y="1703075"/>
            <a:ext cx="4441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            </a:t>
            </a:r>
            <a:r>
              <a:rPr b="1" lang="en" sz="1200">
                <a:solidFill>
                  <a:schemeClr val="dk2"/>
                </a:solidFill>
              </a:rPr>
              <a:t>          References :</a:t>
            </a: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lang="en" sz="1200">
                <a:solidFill>
                  <a:srgbClr val="434343"/>
                </a:solidFill>
              </a:rPr>
              <a:t>CLIP paper: </a:t>
            </a:r>
            <a:r>
              <a:rPr lang="en" sz="1200" u="sng">
                <a:solidFill>
                  <a:srgbClr val="434343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https://arxiv.org/pdf/2103.00020</a:t>
            </a:r>
            <a:br>
              <a:rPr lang="en" sz="1200">
                <a:solidFill>
                  <a:srgbClr val="434343"/>
                </a:solidFill>
              </a:rPr>
            </a:br>
            <a:endParaRPr sz="1200">
              <a:solidFill>
                <a:srgbClr val="434343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lang="en" sz="1200">
                <a:solidFill>
                  <a:srgbClr val="434343"/>
                </a:solidFill>
              </a:rPr>
              <a:t>CLIP code : </a:t>
            </a:r>
            <a:r>
              <a:rPr lang="en" sz="1200" u="sng">
                <a:solidFill>
                  <a:srgbClr val="434343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https://github.com/OpenAI/CLIP</a:t>
            </a:r>
            <a:endParaRPr sz="1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lang="en" sz="1200">
                <a:solidFill>
                  <a:srgbClr val="434343"/>
                </a:solidFill>
              </a:rPr>
              <a:t>FLIP code : </a:t>
            </a:r>
            <a:r>
              <a:rPr lang="en" sz="1200" u="sng">
                <a:solidFill>
                  <a:srgbClr val="434343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https://github.com/koushiksrivats/FLIP</a:t>
            </a:r>
            <a:endParaRPr sz="1200">
              <a:solidFill>
                <a:srgbClr val="43434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34343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</a:pPr>
            <a:r>
              <a:rPr lang="en" sz="1200">
                <a:solidFill>
                  <a:srgbClr val="434343"/>
                </a:solidFill>
              </a:rPr>
              <a:t>FLIP paper : </a:t>
            </a:r>
            <a:r>
              <a:rPr lang="en" sz="1200" u="sng">
                <a:solidFill>
                  <a:srgbClr val="434343"/>
                </a:solidFill>
              </a:rPr>
              <a:t>https://arxiv.org/pdf/2309.16649</a:t>
            </a:r>
            <a:endParaRPr sz="1200" u="sng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